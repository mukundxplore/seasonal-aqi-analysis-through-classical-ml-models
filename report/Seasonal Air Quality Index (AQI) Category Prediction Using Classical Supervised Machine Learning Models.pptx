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66" r:id="rId2"/>
    <p:sldId id="263" r:id="rId3"/>
    <p:sldId id="264" r:id="rId4"/>
    <p:sldId id="265" r:id="rId5"/>
    <p:sldId id="257" r:id="rId6"/>
    <p:sldId id="258" r:id="rId7"/>
    <p:sldId id="269" r:id="rId8"/>
    <p:sldId id="259" r:id="rId9"/>
    <p:sldId id="273" r:id="rId10"/>
    <p:sldId id="272" r:id="rId11"/>
    <p:sldId id="270" r:id="rId12"/>
    <p:sldId id="260" r:id="rId13"/>
    <p:sldId id="268" r:id="rId14"/>
    <p:sldId id="271" r:id="rId15"/>
    <p:sldId id="267"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174" autoAdjust="0"/>
  </p:normalViewPr>
  <p:slideViewPr>
    <p:cSldViewPr snapToGrid="0">
      <p:cViewPr varScale="1">
        <p:scale>
          <a:sx n="53" d="100"/>
          <a:sy n="53" d="100"/>
        </p:scale>
        <p:origin x="11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E6468F-F8CA-04CF-CBC0-83472FCDD5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30C2D11-1B13-0C90-C12E-316A562928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A176EA-82BB-454F-8873-11E91AA0D47D}" type="datetimeFigureOut">
              <a:rPr lang="en-IN" smtClean="0"/>
              <a:t>20-07-2026</a:t>
            </a:fld>
            <a:endParaRPr lang="en-IN"/>
          </a:p>
        </p:txBody>
      </p:sp>
      <p:sp>
        <p:nvSpPr>
          <p:cNvPr id="4" name="Footer Placeholder 3">
            <a:extLst>
              <a:ext uri="{FF2B5EF4-FFF2-40B4-BE49-F238E27FC236}">
                <a16:creationId xmlns:a16="http://schemas.microsoft.com/office/drawing/2014/main" id="{A570847F-55B5-0C04-21B4-4A4C4DA8C5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DE6BDC1-F76F-9036-B38A-9F4389A27C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680489-0994-4E37-A38C-B41C934AAE64}" type="slidenum">
              <a:rPr lang="en-IN" smtClean="0"/>
              <a:t>‹#›</a:t>
            </a:fld>
            <a:endParaRPr lang="en-IN"/>
          </a:p>
        </p:txBody>
      </p:sp>
    </p:spTree>
    <p:extLst>
      <p:ext uri="{BB962C8B-B14F-4D97-AF65-F5344CB8AC3E}">
        <p14:creationId xmlns:p14="http://schemas.microsoft.com/office/powerpoint/2010/main" val="33430532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CB4FC1-38B6-484E-81C9-1E4DB6D479D9}" type="datetimeFigureOut">
              <a:rPr lang="en-IN" smtClean="0"/>
              <a:t>20-07-2026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4FDB8-FC1D-4E2D-B9A9-D5D8C2896AA4}" type="slidenum">
              <a:rPr lang="en-IN" smtClean="0"/>
              <a:t>‹#›</a:t>
            </a:fld>
            <a:endParaRPr lang="en-IN"/>
          </a:p>
        </p:txBody>
      </p:sp>
    </p:spTree>
    <p:extLst>
      <p:ext uri="{BB962C8B-B14F-4D97-AF65-F5344CB8AC3E}">
        <p14:creationId xmlns:p14="http://schemas.microsoft.com/office/powerpoint/2010/main" val="19150814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Both studies highlight that PM2.5 and PM10 concentrations are the primary drivers for AQI categories and that seasonal variations—particularly in winter and post-monsoon—lead to high variability. These findings justify the use of Support Vector Machines, Random Forest, and regression models in our study.</a:t>
            </a:r>
            <a:endParaRPr lang="en-IN" dirty="0"/>
          </a:p>
          <a:p>
            <a:endParaRPr lang="en-IN" dirty="0"/>
          </a:p>
        </p:txBody>
      </p:sp>
      <p:sp>
        <p:nvSpPr>
          <p:cNvPr id="4" name="Slide Number Placeholder 3"/>
          <p:cNvSpPr>
            <a:spLocks noGrp="1"/>
          </p:cNvSpPr>
          <p:nvPr>
            <p:ph type="sldNum" sz="quarter" idx="5"/>
          </p:nvPr>
        </p:nvSpPr>
        <p:spPr/>
        <p:txBody>
          <a:bodyPr/>
          <a:lstStyle/>
          <a:p>
            <a:fld id="{1614FDB8-FC1D-4E2D-B9A9-D5D8C2896AA4}" type="slidenum">
              <a:rPr lang="en-IN" smtClean="0"/>
              <a:t>4</a:t>
            </a:fld>
            <a:endParaRPr lang="en-IN"/>
          </a:p>
        </p:txBody>
      </p:sp>
    </p:spTree>
    <p:extLst>
      <p:ext uri="{BB962C8B-B14F-4D97-AF65-F5344CB8AC3E}">
        <p14:creationId xmlns:p14="http://schemas.microsoft.com/office/powerpoint/2010/main" val="1276633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studies highlight that PM2.5 and PM10 concentrations are the primary drivers for AQI categories and that seasonal variations—particularly in winter and post-monsoon—lead to high variability. These findings justify the use of Support Vector Machines, Random Forest, and regression models in our study.</a:t>
            </a:r>
            <a:endParaRPr lang="en-IN" dirty="0"/>
          </a:p>
        </p:txBody>
      </p:sp>
      <p:sp>
        <p:nvSpPr>
          <p:cNvPr id="4" name="Slide Number Placeholder 3"/>
          <p:cNvSpPr>
            <a:spLocks noGrp="1"/>
          </p:cNvSpPr>
          <p:nvPr>
            <p:ph type="sldNum" sz="quarter" idx="5"/>
          </p:nvPr>
        </p:nvSpPr>
        <p:spPr/>
        <p:txBody>
          <a:bodyPr/>
          <a:lstStyle/>
          <a:p>
            <a:fld id="{1614FDB8-FC1D-4E2D-B9A9-D5D8C2896AA4}" type="slidenum">
              <a:rPr lang="en-IN" smtClean="0"/>
              <a:t>5</a:t>
            </a:fld>
            <a:endParaRPr lang="en-IN"/>
          </a:p>
        </p:txBody>
      </p:sp>
    </p:spTree>
    <p:extLst>
      <p:ext uri="{BB962C8B-B14F-4D97-AF65-F5344CB8AC3E}">
        <p14:creationId xmlns:p14="http://schemas.microsoft.com/office/powerpoint/2010/main" val="4079565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D048-0AEB-AD8F-F122-6226F4B17D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5E2C73-A89D-CBA1-0B30-737726606D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2AEC1E-B485-53F2-BA14-2928CD09798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7D4DE4-28C0-E29E-6CE0-371C6353A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D6C25-9EFB-AB3A-EF0F-74F461988CD7}"/>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983225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E8BE-88CC-0564-E2DF-9FFEC793A7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CFCE7C-914A-8301-8080-378EAEE5A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CFD19F-2314-6468-EE45-71AE2B49AFC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2A4806B-E74E-0AF5-1731-FEE1323CB6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A98105-DFE5-2170-12DD-A27FA6FC9FBA}"/>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598646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CCF0-DD64-BD54-2683-93A9E994AD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EE6668-89E3-BEF7-7D6E-6D6756EDC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81203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8735-09B8-C0FC-3E3E-9EFDB6E676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E22981-6C42-533C-6DC4-0557000182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515D0C-9E7A-6A0F-54AC-1FC2186DAA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5A7B5D-4775-1A3A-0213-372B11FA278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FB04FAD-B71E-9D16-4A0B-80E919B00A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04C0AB-1614-2907-9A27-60901DDB8A6E}"/>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866113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69C-7430-EE28-CAC4-6DA0B16BA2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345781-301D-E6FC-9F91-922CC6191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5A74DA-7A2C-E333-7AC8-075994F6EB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19C1FC-8FEC-E144-EFBB-4DA24DC96D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8DB2EE-2EA6-46B7-896E-E1E7D08EF7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39FF77-3399-294D-035B-3CFC258D6510}"/>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B671F76C-6FDB-455F-027A-D739E35105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E9F77D-F384-4805-20F5-97096D173F70}"/>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646490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02975-94E9-1C2D-2C11-290C132049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8FE683-24A4-2340-1BED-3B9BE3B72D1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B27A672F-DACF-2105-A1CD-AEB51A96F2A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96C481-0A90-591E-445C-8DC28B418481}"/>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402683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4227D2-1D2B-70BF-5C5A-E1EBD23E6E3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ED92A1A-D8C6-F86A-70DD-49084985B8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0E4913-41DE-3FC2-6A8E-109E51206802}"/>
              </a:ext>
            </a:extLst>
          </p:cNvPr>
          <p:cNvSpPr>
            <a:spLocks noGrp="1"/>
          </p:cNvSpPr>
          <p:nvPr>
            <p:ph type="sldNum" sz="quarter" idx="12"/>
          </p:nvPr>
        </p:nvSpPr>
        <p:spPr>
          <a:xfrm>
            <a:off x="9448800" y="6492875"/>
            <a:ext cx="2743200" cy="365125"/>
          </a:xfrm>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3026584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5B7FE-78D4-470A-9F19-ADD253EC9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556632-1E55-EFCC-E2A8-8EC4165B3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4BDB06-3CF5-8289-223B-770F7F923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F2752D-2D92-FB67-7822-6E8FA52C378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A763490-D4AF-A54B-62CF-16635A41A7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EF3883-5A09-6EC2-6F3E-163F51BA818D}"/>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223396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A6D7-6899-2499-72D2-756483A926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A077F9-5AB7-EE79-3755-EEB03D1109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BE5F1D-B461-A077-F0DE-26D23FACC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B27B3B-AA13-08C4-93B1-70FABE2A256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3036572-B64B-6A45-5748-C7A843EBF1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CAD57-8914-5487-A370-989B6014925D}"/>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39818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9757-B64E-D2BB-2ED5-361ED937EC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337746-66C8-9310-9685-15C7A48C8E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37E70-999A-680C-6BEE-54F543EBCDF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E68DC9D-03D4-5320-41B7-13CA623BBD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5865B9-D6B4-DDB2-016E-3CF15817721F}"/>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2546112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A72916-D0E8-B20E-375D-277D92C5FC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AE5F5C-3861-171C-CDD0-46BA59655B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C646BB-530C-AE22-A57C-668ADEED0B0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FB18FA7-DE7A-234B-D9FE-534357AF15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0C039-C45D-FBC9-5D40-EF41B71606CB}"/>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4079060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110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https://github.com/MukundXplore/Seasonal-AQI-Analysis-Through-Classical-ML-Models/blob/main/report/PPTX%20Seasonal%20Air%20Quality%20Index%20(AQI)%20Category%20Prediction%20Using%20Classical%20Supervised%20Machine%20Learning%20Models.pdf" TargetMode="Externa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github.com/MukundXplore/Seasonal-AQI-Analysis-Through-Classical-ML-Models"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C77D1D-1522-99E8-2E00-A9A295C8C5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FF6A5FC0-3961-BC15-2A61-C883043BEC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2AA27-F5C5-B915-0299-16288AD5C5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2D34FC47-7485-3CC7-D533-A360ABF948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66B05A-B307-F216-EED3-4812AE027D8F}"/>
              </a:ext>
            </a:extLst>
          </p:cNvPr>
          <p:cNvSpPr>
            <a:spLocks noGrp="1"/>
          </p:cNvSpPr>
          <p:nvPr>
            <p:ph type="sldNum" sz="quarter" idx="4"/>
          </p:nvPr>
        </p:nvSpPr>
        <p:spPr>
          <a:xfrm>
            <a:off x="9448800" y="64549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75BFE1-678E-4020-ACD1-5206801575C1}" type="slidenum">
              <a:rPr lang="en-IN" smtClean="0"/>
              <a:t>‹#›</a:t>
            </a:fld>
            <a:endParaRPr lang="en-IN"/>
          </a:p>
        </p:txBody>
      </p:sp>
      <p:pic>
        <p:nvPicPr>
          <p:cNvPr id="14" name="Picture 13">
            <a:extLst>
              <a:ext uri="{FF2B5EF4-FFF2-40B4-BE49-F238E27FC236}">
                <a16:creationId xmlns:a16="http://schemas.microsoft.com/office/drawing/2014/main" id="{375D31EE-BF7B-0883-F9C5-94D4070FDA2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7961" y="18879"/>
            <a:ext cx="2378601" cy="885061"/>
          </a:xfrm>
          <a:prstGeom prst="rect">
            <a:avLst/>
          </a:prstGeom>
          <a:ln>
            <a:solidFill>
              <a:schemeClr val="accent1"/>
            </a:solidFill>
          </a:ln>
        </p:spPr>
      </p:pic>
      <p:cxnSp>
        <p:nvCxnSpPr>
          <p:cNvPr id="8" name="Straight Connector 7">
            <a:extLst>
              <a:ext uri="{FF2B5EF4-FFF2-40B4-BE49-F238E27FC236}">
                <a16:creationId xmlns:a16="http://schemas.microsoft.com/office/drawing/2014/main" id="{81A5957E-8103-C00E-12EB-94FB5EFCF2A2}"/>
              </a:ext>
            </a:extLst>
          </p:cNvPr>
          <p:cNvCxnSpPr>
            <a:cxnSpLocks/>
          </p:cNvCxnSpPr>
          <p:nvPr userDrawn="1"/>
        </p:nvCxnSpPr>
        <p:spPr>
          <a:xfrm flipV="1">
            <a:off x="476695" y="947369"/>
            <a:ext cx="11238648" cy="1942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EB51FA-1D71-3CF9-1917-612B56052553}"/>
              </a:ext>
            </a:extLst>
          </p:cNvPr>
          <p:cNvCxnSpPr>
            <a:cxnSpLocks/>
          </p:cNvCxnSpPr>
          <p:nvPr userDrawn="1"/>
        </p:nvCxnSpPr>
        <p:spPr>
          <a:xfrm>
            <a:off x="476695" y="6609870"/>
            <a:ext cx="1124928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D018D7-A27E-48CD-BADB-F2691477E4CE}"/>
              </a:ext>
            </a:extLst>
          </p:cNvPr>
          <p:cNvCxnSpPr>
            <a:cxnSpLocks/>
          </p:cNvCxnSpPr>
          <p:nvPr userDrawn="1"/>
        </p:nvCxnSpPr>
        <p:spPr>
          <a:xfrm>
            <a:off x="497961" y="941017"/>
            <a:ext cx="0" cy="566885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2C89F9-9FDB-4336-1404-13623F3FB30E}"/>
              </a:ext>
            </a:extLst>
          </p:cNvPr>
          <p:cNvCxnSpPr>
            <a:cxnSpLocks/>
          </p:cNvCxnSpPr>
          <p:nvPr userDrawn="1"/>
        </p:nvCxnSpPr>
        <p:spPr>
          <a:xfrm>
            <a:off x="11715343" y="915988"/>
            <a:ext cx="0" cy="571514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AC96187-06BB-7758-6A6F-20E4CB6A1B01}"/>
              </a:ext>
            </a:extLst>
          </p:cNvPr>
          <p:cNvSpPr txBox="1"/>
          <p:nvPr userDrawn="1"/>
        </p:nvSpPr>
        <p:spPr>
          <a:xfrm>
            <a:off x="3492001" y="96495"/>
            <a:ext cx="6490199" cy="707886"/>
          </a:xfrm>
          <a:prstGeom prst="rect">
            <a:avLst/>
          </a:prstGeom>
          <a:noFill/>
        </p:spPr>
        <p:txBody>
          <a:bodyPr wrap="square" rtlCol="0" anchor="ctr">
            <a:spAutoFit/>
          </a:bodyPr>
          <a:lstStyle/>
          <a:p>
            <a:pPr algn="ctr"/>
            <a:r>
              <a:rPr lang="en-US" sz="2000" b="1" dirty="0"/>
              <a:t>Seasonal Air Quality Index (AQI) Category Prediction Using Classical Supervised Machine Learning Models</a:t>
            </a:r>
            <a:endParaRPr lang="en-IN" sz="2000" b="1" dirty="0"/>
          </a:p>
        </p:txBody>
      </p:sp>
      <p:grpSp>
        <p:nvGrpSpPr>
          <p:cNvPr id="43" name="Group 42">
            <a:extLst>
              <a:ext uri="{FF2B5EF4-FFF2-40B4-BE49-F238E27FC236}">
                <a16:creationId xmlns:a16="http://schemas.microsoft.com/office/drawing/2014/main" id="{09A7768D-7A51-4C88-51D5-3884834B9475}"/>
              </a:ext>
            </a:extLst>
          </p:cNvPr>
          <p:cNvGrpSpPr/>
          <p:nvPr userDrawn="1"/>
        </p:nvGrpSpPr>
        <p:grpSpPr>
          <a:xfrm>
            <a:off x="10857243" y="223285"/>
            <a:ext cx="868733" cy="476250"/>
            <a:chOff x="10857243" y="223285"/>
            <a:chExt cx="868733" cy="476250"/>
          </a:xfrm>
        </p:grpSpPr>
        <p:pic>
          <p:nvPicPr>
            <p:cNvPr id="39" name="Picture 38">
              <a:hlinkClick r:id="rId15"/>
              <a:extLst>
                <a:ext uri="{FF2B5EF4-FFF2-40B4-BE49-F238E27FC236}">
                  <a16:creationId xmlns:a16="http://schemas.microsoft.com/office/drawing/2014/main" id="{4ED6AEB0-0143-C713-411D-11B2EB32F05F}"/>
                </a:ext>
              </a:extLst>
            </p:cNvPr>
            <p:cNvPicPr>
              <a:picLocks noChangeAspect="1"/>
            </p:cNvPicPr>
            <p:nvPr userDrawn="1"/>
          </p:nvPicPr>
          <p:blipFill>
            <a:blip r:embed="rId16"/>
            <a:stretch>
              <a:fillRect/>
            </a:stretch>
          </p:blipFill>
          <p:spPr>
            <a:xfrm>
              <a:off x="11249726" y="223285"/>
              <a:ext cx="476250" cy="476250"/>
            </a:xfrm>
            <a:prstGeom prst="rect">
              <a:avLst/>
            </a:prstGeom>
          </p:spPr>
        </p:pic>
        <p:pic>
          <p:nvPicPr>
            <p:cNvPr id="41" name="Picture 40">
              <a:hlinkClick r:id="rId17"/>
              <a:extLst>
                <a:ext uri="{FF2B5EF4-FFF2-40B4-BE49-F238E27FC236}">
                  <a16:creationId xmlns:a16="http://schemas.microsoft.com/office/drawing/2014/main" id="{5321AA24-8AF2-12B0-8699-DFE4758E272D}"/>
                </a:ext>
              </a:extLst>
            </p:cNvPr>
            <p:cNvPicPr>
              <a:picLocks noChangeAspect="1"/>
            </p:cNvPicPr>
            <p:nvPr userDrawn="1"/>
          </p:nvPicPr>
          <p:blipFill>
            <a:blip r:embed="rId18"/>
            <a:stretch>
              <a:fillRect/>
            </a:stretch>
          </p:blipFill>
          <p:spPr>
            <a:xfrm>
              <a:off x="10857243" y="291751"/>
              <a:ext cx="360584" cy="360584"/>
            </a:xfrm>
            <a:prstGeom prst="rect">
              <a:avLst/>
            </a:prstGeom>
          </p:spPr>
        </p:pic>
      </p:grpSp>
    </p:spTree>
    <p:extLst>
      <p:ext uri="{BB962C8B-B14F-4D97-AF65-F5344CB8AC3E}">
        <p14:creationId xmlns:p14="http://schemas.microsoft.com/office/powerpoint/2010/main" val="3468459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stateofglobalair.org/sites/default/files/documents/2025-10/soga-2025-annual-report-executive-summary-infographic.pdf"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researchgate.net/publication/38707527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Rectangle 1">
            <a:extLst>
              <a:ext uri="{FF2B5EF4-FFF2-40B4-BE49-F238E27FC236}">
                <a16:creationId xmlns:a16="http://schemas.microsoft.com/office/drawing/2014/main" id="{952748BF-5A2C-0A57-F1EB-965AB1E906B6}"/>
              </a:ext>
            </a:extLst>
          </p:cNvPr>
          <p:cNvSpPr>
            <a:spLocks noChangeArrowheads="1"/>
          </p:cNvSpPr>
          <p:nvPr/>
        </p:nvSpPr>
        <p:spPr bwMode="auto">
          <a:xfrm>
            <a:off x="1032984" y="3094936"/>
            <a:ext cx="10147299" cy="1731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altLang="en-US" sz="2400" b="1" dirty="0">
                <a:latin typeface="Arial" panose="020B0604020202020204" pitchFamily="34" charset="0"/>
              </a:rPr>
              <a:t>Course Name:</a:t>
            </a:r>
            <a:r>
              <a:rPr lang="en-US" altLang="en-US" sz="2400" dirty="0">
                <a:latin typeface="Arial" panose="020B0604020202020204" pitchFamily="34" charset="0"/>
              </a:rPr>
              <a:t> CSE-208: Machine Learning</a:t>
            </a:r>
          </a:p>
          <a:p>
            <a:pPr algn="just" eaLnBrk="0" fontAlgn="base" hangingPunct="0">
              <a:spcBef>
                <a:spcPct val="0"/>
              </a:spcBef>
              <a:spcAft>
                <a:spcPct val="0"/>
              </a:spcAft>
            </a:pPr>
            <a:endParaRPr lang="en-US" altLang="en-US" sz="1050" dirty="0">
              <a:latin typeface="Arial" panose="020B0604020202020204" pitchFamily="34" charset="0"/>
            </a:endParaRP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Submission Note:</a:t>
            </a:r>
            <a:endParaRPr lang="en-US" altLang="en-US" sz="2400" dirty="0">
              <a:latin typeface="Arial" panose="020B0604020202020204" pitchFamily="34" charset="0"/>
            </a:endParaRPr>
          </a:p>
          <a:p>
            <a:pPr lvl="1" algn="just"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Submitted towards the partial fulfillment of completion requirements for CSE-208</a:t>
            </a:r>
          </a:p>
        </p:txBody>
      </p:sp>
      <p:pic>
        <p:nvPicPr>
          <p:cNvPr id="2" name="Picture 1">
            <a:extLst>
              <a:ext uri="{FF2B5EF4-FFF2-40B4-BE49-F238E27FC236}">
                <a16:creationId xmlns:a16="http://schemas.microsoft.com/office/drawing/2014/main" id="{617A7202-D3F0-E371-95C9-FFC105167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9624" y="14049"/>
            <a:ext cx="2412752" cy="897766"/>
          </a:xfrm>
          <a:prstGeom prst="rect">
            <a:avLst/>
          </a:prstGeom>
          <a:ln>
            <a:solidFill>
              <a:schemeClr val="accent1"/>
            </a:solidFill>
          </a:ln>
        </p:spPr>
      </p:pic>
      <p:sp>
        <p:nvSpPr>
          <p:cNvPr id="3" name="TextBox 2">
            <a:extLst>
              <a:ext uri="{FF2B5EF4-FFF2-40B4-BE49-F238E27FC236}">
                <a16:creationId xmlns:a16="http://schemas.microsoft.com/office/drawing/2014/main" id="{1385F97D-1176-A1E7-84F6-192733B6E9A8}"/>
              </a:ext>
            </a:extLst>
          </p:cNvPr>
          <p:cNvSpPr txBox="1"/>
          <p:nvPr/>
        </p:nvSpPr>
        <p:spPr>
          <a:xfrm>
            <a:off x="1223484" y="1140784"/>
            <a:ext cx="9766299" cy="1938992"/>
          </a:xfrm>
          <a:prstGeom prst="rect">
            <a:avLst/>
          </a:prstGeom>
          <a:noFill/>
        </p:spPr>
        <p:txBody>
          <a:bodyPr wrap="square" rtlCol="0" anchor="ctr">
            <a:spAutoFit/>
          </a:bodyPr>
          <a:lstStyle/>
          <a:p>
            <a:pPr algn="ctr"/>
            <a:r>
              <a:rPr lang="en-US" sz="4000" b="1" dirty="0"/>
              <a:t>Seasonal Air Quality Index (AQI) Category Prediction Using Classical Supervised Machine Learning Models</a:t>
            </a:r>
            <a:endParaRPr lang="en-IN" sz="4000" b="1" dirty="0"/>
          </a:p>
        </p:txBody>
      </p:sp>
      <p:sp>
        <p:nvSpPr>
          <p:cNvPr id="4" name="TextBox 3">
            <a:extLst>
              <a:ext uri="{FF2B5EF4-FFF2-40B4-BE49-F238E27FC236}">
                <a16:creationId xmlns:a16="http://schemas.microsoft.com/office/drawing/2014/main" id="{21AC4B0E-589E-94F4-59DD-CC279C3BBB0B}"/>
              </a:ext>
            </a:extLst>
          </p:cNvPr>
          <p:cNvSpPr txBox="1"/>
          <p:nvPr/>
        </p:nvSpPr>
        <p:spPr>
          <a:xfrm>
            <a:off x="1032984" y="4840394"/>
            <a:ext cx="8843211" cy="1631216"/>
          </a:xfrm>
          <a:prstGeom prst="rect">
            <a:avLst/>
          </a:prstGeom>
          <a:noFill/>
        </p:spPr>
        <p:txBody>
          <a:bodyPr wrap="square" numCol="1" rtlCol="0">
            <a:spAutoFit/>
          </a:bodyPr>
          <a:lstStyle/>
          <a:p>
            <a:r>
              <a:rPr lang="en-IN" sz="2000" b="1" dirty="0"/>
              <a:t>Team Members :</a:t>
            </a:r>
          </a:p>
          <a:p>
            <a:pPr marL="571500" indent="-571500">
              <a:buFont typeface="Wingdings" panose="05000000000000000000" pitchFamily="2" charset="2"/>
              <a:buChar char="Ø"/>
            </a:pPr>
            <a:r>
              <a:rPr lang="en-IN" sz="2000" dirty="0"/>
              <a:t>Farhan Akhlaq (SAU/CS/DMTECH(CSE)/2024/09)</a:t>
            </a:r>
          </a:p>
          <a:p>
            <a:pPr marL="571500" indent="-571500">
              <a:buFont typeface="Wingdings" panose="05000000000000000000" pitchFamily="2" charset="2"/>
              <a:buChar char="Ø"/>
            </a:pPr>
            <a:r>
              <a:rPr lang="en-IN" sz="2000" dirty="0"/>
              <a:t>Karthik </a:t>
            </a:r>
            <a:r>
              <a:rPr lang="en-IN" sz="2000" dirty="0" err="1"/>
              <a:t>Baurai</a:t>
            </a:r>
            <a:r>
              <a:rPr lang="en-IN" sz="2000" dirty="0"/>
              <a:t> (SAU/CS/BTECH(CSE)/2024/38)</a:t>
            </a:r>
          </a:p>
          <a:p>
            <a:pPr marL="571500" indent="-571500">
              <a:buFont typeface="Wingdings" panose="05000000000000000000" pitchFamily="2" charset="2"/>
              <a:buChar char="Ø"/>
            </a:pPr>
            <a:r>
              <a:rPr lang="en-IN" sz="2000" dirty="0"/>
              <a:t>Misbah Ul Islam (SAU/CS/BTECH(CSE)/2024/44)</a:t>
            </a:r>
          </a:p>
          <a:p>
            <a:pPr marL="571500" indent="-571500">
              <a:buFont typeface="Wingdings" panose="05000000000000000000" pitchFamily="2" charset="2"/>
              <a:buChar char="Ø"/>
            </a:pPr>
            <a:r>
              <a:rPr lang="en-IN" sz="2000" dirty="0"/>
              <a:t>Mukund Prasad (SAU/CS/DMTECH(CSE)/2024/13)</a:t>
            </a:r>
          </a:p>
        </p:txBody>
      </p:sp>
      <p:cxnSp>
        <p:nvCxnSpPr>
          <p:cNvPr id="5" name="Straight Connector 4">
            <a:extLst>
              <a:ext uri="{FF2B5EF4-FFF2-40B4-BE49-F238E27FC236}">
                <a16:creationId xmlns:a16="http://schemas.microsoft.com/office/drawing/2014/main" id="{5CAC5CD5-0D07-E4FB-B923-683C99F0BD26}"/>
              </a:ext>
            </a:extLst>
          </p:cNvPr>
          <p:cNvCxnSpPr>
            <a:cxnSpLocks/>
          </p:cNvCxnSpPr>
          <p:nvPr/>
        </p:nvCxnSpPr>
        <p:spPr>
          <a:xfrm flipV="1">
            <a:off x="476676" y="933080"/>
            <a:ext cx="11238648" cy="1942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DE7F90-212F-2BC1-DAD6-3394641F7A17}"/>
              </a:ext>
            </a:extLst>
          </p:cNvPr>
          <p:cNvCxnSpPr>
            <a:cxnSpLocks/>
          </p:cNvCxnSpPr>
          <p:nvPr/>
        </p:nvCxnSpPr>
        <p:spPr>
          <a:xfrm>
            <a:off x="476676" y="6595581"/>
            <a:ext cx="1124928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79073DB-AAE1-660D-0FD6-9F20E0EB6038}"/>
              </a:ext>
            </a:extLst>
          </p:cNvPr>
          <p:cNvCxnSpPr>
            <a:cxnSpLocks/>
          </p:cNvCxnSpPr>
          <p:nvPr/>
        </p:nvCxnSpPr>
        <p:spPr>
          <a:xfrm>
            <a:off x="497942" y="926728"/>
            <a:ext cx="0" cy="566885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B5B21C1-0DDF-C0E3-33D3-F4523323CD85}"/>
              </a:ext>
            </a:extLst>
          </p:cNvPr>
          <p:cNvCxnSpPr>
            <a:cxnSpLocks/>
          </p:cNvCxnSpPr>
          <p:nvPr/>
        </p:nvCxnSpPr>
        <p:spPr>
          <a:xfrm>
            <a:off x="11715324" y="901699"/>
            <a:ext cx="0" cy="571514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Slide Number Placeholder 19">
            <a:extLst>
              <a:ext uri="{FF2B5EF4-FFF2-40B4-BE49-F238E27FC236}">
                <a16:creationId xmlns:a16="http://schemas.microsoft.com/office/drawing/2014/main" id="{9D310F83-F001-41EE-D0BF-96043360A00F}"/>
              </a:ext>
            </a:extLst>
          </p:cNvPr>
          <p:cNvSpPr>
            <a:spLocks noGrp="1"/>
          </p:cNvSpPr>
          <p:nvPr>
            <p:ph type="sldNum" sz="quarter" idx="12"/>
          </p:nvPr>
        </p:nvSpPr>
        <p:spPr/>
        <p:txBody>
          <a:bodyPr/>
          <a:lstStyle/>
          <a:p>
            <a:fld id="{0675BFE1-678E-4020-ACD1-5206801575C1}" type="slidenum">
              <a:rPr lang="en-IN" smtClean="0"/>
              <a:t>1</a:t>
            </a:fld>
            <a:endParaRPr lang="en-IN"/>
          </a:p>
        </p:txBody>
      </p:sp>
    </p:spTree>
    <p:extLst>
      <p:ext uri="{BB962C8B-B14F-4D97-AF65-F5344CB8AC3E}">
        <p14:creationId xmlns:p14="http://schemas.microsoft.com/office/powerpoint/2010/main" val="2335266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74F7D67-14A9-EB87-7B23-C9E8B0A6B2DC}"/>
              </a:ext>
            </a:extLst>
          </p:cNvPr>
          <p:cNvPicPr>
            <a:picLocks noChangeAspect="1"/>
          </p:cNvPicPr>
          <p:nvPr/>
        </p:nvPicPr>
        <p:blipFill>
          <a:blip r:embed="rId2"/>
          <a:stretch>
            <a:fillRect/>
          </a:stretch>
        </p:blipFill>
        <p:spPr>
          <a:xfrm>
            <a:off x="7375358" y="1023076"/>
            <a:ext cx="4291336" cy="5198311"/>
          </a:xfrm>
          <a:prstGeom prst="rect">
            <a:avLst/>
          </a:prstGeom>
        </p:spPr>
      </p:pic>
      <p:sp>
        <p:nvSpPr>
          <p:cNvPr id="3" name="TextBox 2">
            <a:extLst>
              <a:ext uri="{FF2B5EF4-FFF2-40B4-BE49-F238E27FC236}">
                <a16:creationId xmlns:a16="http://schemas.microsoft.com/office/drawing/2014/main" id="{6EB21EC0-D16E-9E20-BA03-8A19F189EF34}"/>
              </a:ext>
            </a:extLst>
          </p:cNvPr>
          <p:cNvSpPr txBox="1"/>
          <p:nvPr/>
        </p:nvSpPr>
        <p:spPr>
          <a:xfrm>
            <a:off x="1082842" y="2014805"/>
            <a:ext cx="5967663" cy="4619854"/>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dirty="0"/>
              <a:t>Air pollution is a multidimensional global crisis particularly critical in rapidly evolving economies like India.</a:t>
            </a:r>
          </a:p>
          <a:p>
            <a:pPr marL="285750" indent="-285750">
              <a:lnSpc>
                <a:spcPct val="150000"/>
              </a:lnSpc>
              <a:buFont typeface="Wingdings" panose="05000000000000000000" pitchFamily="2" charset="2"/>
              <a:buChar char="§"/>
            </a:pPr>
            <a:r>
              <a:rPr lang="en-US" sz="2000" dirty="0"/>
              <a:t>Urbanization and industrialization create complex fluctuations in air quality rather than a steady decline.</a:t>
            </a:r>
          </a:p>
          <a:p>
            <a:pPr marL="285750" indent="-285750">
              <a:lnSpc>
                <a:spcPct val="150000"/>
              </a:lnSpc>
              <a:buFont typeface="Wingdings" panose="05000000000000000000" pitchFamily="2" charset="2"/>
              <a:buChar char="§"/>
            </a:pPr>
            <a:r>
              <a:rPr lang="en-US" sz="2000" dirty="0"/>
              <a:t>There is an urgent need to transition from simple monitoring to "predictive intelligence" to understand future behavior.</a:t>
            </a:r>
            <a:br>
              <a:rPr lang="en-US" sz="1800" dirty="0"/>
            </a:br>
            <a:endParaRPr lang="en-IN" dirty="0"/>
          </a:p>
        </p:txBody>
      </p:sp>
      <p:sp>
        <p:nvSpPr>
          <p:cNvPr id="5" name="TextBox 4">
            <a:extLst>
              <a:ext uri="{FF2B5EF4-FFF2-40B4-BE49-F238E27FC236}">
                <a16:creationId xmlns:a16="http://schemas.microsoft.com/office/drawing/2014/main" id="{E9C4FD3B-9BD1-2A71-097B-0E1B938E7A24}"/>
              </a:ext>
            </a:extLst>
          </p:cNvPr>
          <p:cNvSpPr txBox="1"/>
          <p:nvPr/>
        </p:nvSpPr>
        <p:spPr>
          <a:xfrm>
            <a:off x="522923" y="958334"/>
            <a:ext cx="6097904" cy="461665"/>
          </a:xfrm>
          <a:prstGeom prst="rect">
            <a:avLst/>
          </a:prstGeom>
          <a:noFill/>
        </p:spPr>
        <p:txBody>
          <a:bodyPr wrap="square">
            <a:spAutoFit/>
          </a:bodyPr>
          <a:lstStyle/>
          <a:p>
            <a:r>
              <a:rPr lang="en-IN" sz="2400" b="1" dirty="0"/>
              <a:t>Section 1: Motivation</a:t>
            </a:r>
          </a:p>
        </p:txBody>
      </p:sp>
      <p:sp>
        <p:nvSpPr>
          <p:cNvPr id="7" name="TextBox 6">
            <a:extLst>
              <a:ext uri="{FF2B5EF4-FFF2-40B4-BE49-F238E27FC236}">
                <a16:creationId xmlns:a16="http://schemas.microsoft.com/office/drawing/2014/main" id="{E7884939-F422-14BE-5446-A97DB73625E3}"/>
              </a:ext>
            </a:extLst>
          </p:cNvPr>
          <p:cNvSpPr txBox="1"/>
          <p:nvPr/>
        </p:nvSpPr>
        <p:spPr>
          <a:xfrm>
            <a:off x="1082842" y="1368474"/>
            <a:ext cx="10586234" cy="646331"/>
          </a:xfrm>
          <a:prstGeom prst="rect">
            <a:avLst/>
          </a:prstGeom>
          <a:noFill/>
        </p:spPr>
        <p:txBody>
          <a:bodyPr wrap="square">
            <a:spAutoFit/>
          </a:bodyPr>
          <a:lstStyle/>
          <a:p>
            <a:pPr algn="just"/>
            <a:r>
              <a:rPr lang="en-US" sz="3600" b="1" dirty="0"/>
              <a:t>The Global Crisis of Air Pollution</a:t>
            </a:r>
            <a:endParaRPr lang="en-IN" sz="3600" dirty="0"/>
          </a:p>
        </p:txBody>
      </p:sp>
      <p:sp>
        <p:nvSpPr>
          <p:cNvPr id="10" name="TextBox 9">
            <a:extLst>
              <a:ext uri="{FF2B5EF4-FFF2-40B4-BE49-F238E27FC236}">
                <a16:creationId xmlns:a16="http://schemas.microsoft.com/office/drawing/2014/main" id="{2186A0C5-2B0B-1F33-91D8-B03C8313033E}"/>
              </a:ext>
            </a:extLst>
          </p:cNvPr>
          <p:cNvSpPr txBox="1"/>
          <p:nvPr/>
        </p:nvSpPr>
        <p:spPr>
          <a:xfrm>
            <a:off x="4470400" y="6311899"/>
            <a:ext cx="7196294" cy="246221"/>
          </a:xfrm>
          <a:prstGeom prst="rect">
            <a:avLst/>
          </a:prstGeom>
          <a:noFill/>
        </p:spPr>
        <p:txBody>
          <a:bodyPr wrap="square" rtlCol="0">
            <a:spAutoFit/>
          </a:bodyPr>
          <a:lstStyle/>
          <a:p>
            <a:r>
              <a:rPr lang="en-IN" sz="1000" dirty="0">
                <a:solidFill>
                  <a:schemeClr val="bg1">
                    <a:lumMod val="75000"/>
                  </a:schemeClr>
                </a:solidFill>
                <a:hlinkClick r:id="rId3">
                  <a:extLst>
                    <a:ext uri="{A12FA001-AC4F-418D-AE19-62706E023703}">
                      <ahyp:hlinkClr xmlns:ahyp="http://schemas.microsoft.com/office/drawing/2018/hyperlinkcolor" val="tx"/>
                    </a:ext>
                  </a:extLst>
                </a:hlinkClick>
              </a:rPr>
              <a:t>https://www.stateofglobalair.org/sites/default/files/documents/2025-10/soga-2025-annual-report-executive-summary-infographic.pdf</a:t>
            </a:r>
            <a:endParaRPr lang="en-IN" sz="1000" dirty="0">
              <a:solidFill>
                <a:schemeClr val="bg1">
                  <a:lumMod val="75000"/>
                </a:schemeClr>
              </a:solidFill>
            </a:endParaRPr>
          </a:p>
        </p:txBody>
      </p:sp>
      <p:sp>
        <p:nvSpPr>
          <p:cNvPr id="14" name="Slide Number Placeholder 13">
            <a:extLst>
              <a:ext uri="{FF2B5EF4-FFF2-40B4-BE49-F238E27FC236}">
                <a16:creationId xmlns:a16="http://schemas.microsoft.com/office/drawing/2014/main" id="{CEE08935-BFC4-AC38-DFC6-DFCE64F33F53}"/>
              </a:ext>
            </a:extLst>
          </p:cNvPr>
          <p:cNvSpPr>
            <a:spLocks noGrp="1"/>
          </p:cNvSpPr>
          <p:nvPr>
            <p:ph type="sldNum" sz="quarter" idx="12"/>
          </p:nvPr>
        </p:nvSpPr>
        <p:spPr/>
        <p:txBody>
          <a:bodyPr/>
          <a:lstStyle/>
          <a:p>
            <a:fld id="{0675BFE1-678E-4020-ACD1-5206801575C1}" type="slidenum">
              <a:rPr lang="en-IN" smtClean="0"/>
              <a:t>2</a:t>
            </a:fld>
            <a:endParaRPr lang="en-IN"/>
          </a:p>
        </p:txBody>
      </p:sp>
    </p:spTree>
    <p:extLst>
      <p:ext uri="{BB962C8B-B14F-4D97-AF65-F5344CB8AC3E}">
        <p14:creationId xmlns:p14="http://schemas.microsoft.com/office/powerpoint/2010/main" val="158822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589D-2C99-2417-EA70-957F97BEFD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3E68AD-97E0-27BF-ADC1-4B64C03F50F2}"/>
              </a:ext>
            </a:extLst>
          </p:cNvPr>
          <p:cNvSpPr txBox="1"/>
          <p:nvPr/>
        </p:nvSpPr>
        <p:spPr>
          <a:xfrm>
            <a:off x="1070810" y="2323148"/>
            <a:ext cx="7058582" cy="4158190"/>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b="1" dirty="0"/>
              <a:t>Challenges:</a:t>
            </a:r>
            <a:r>
              <a:rPr lang="en-US" sz="2000" dirty="0"/>
              <a:t> Inconsistency of pollution sources and unique "pollution signatures" during winter/post-monsoon that traditional statistics struggle to categorize.</a:t>
            </a:r>
          </a:p>
          <a:p>
            <a:pPr marL="285750" indent="-285750" algn="just">
              <a:lnSpc>
                <a:spcPct val="150000"/>
              </a:lnSpc>
              <a:buFont typeface="Wingdings" panose="05000000000000000000" pitchFamily="2" charset="2"/>
              <a:buChar char="§"/>
            </a:pPr>
            <a:r>
              <a:rPr lang="en-US" sz="2000" b="1" dirty="0"/>
              <a:t>Core Objective:</a:t>
            </a:r>
            <a:r>
              <a:rPr lang="en-US" sz="2000" dirty="0"/>
              <a:t> Conduct a comparative analysis of classical ML models (Multiple Linear Regression, SVM, and Random Forest) to classify seasonal air quality levels.</a:t>
            </a:r>
          </a:p>
          <a:p>
            <a:pPr marL="285750" indent="-285750" algn="just">
              <a:lnSpc>
                <a:spcPct val="150000"/>
              </a:lnSpc>
              <a:buFont typeface="Wingdings" panose="05000000000000000000" pitchFamily="2" charset="2"/>
              <a:buChar char="§"/>
            </a:pPr>
            <a:r>
              <a:rPr lang="en-US" sz="2000" b="1" dirty="0"/>
              <a:t>Goal:</a:t>
            </a:r>
            <a:r>
              <a:rPr lang="en-US" sz="2000" dirty="0"/>
              <a:t> Re-emphasize the effectiveness of traditional ML models in an era dominated by deep learning.</a:t>
            </a:r>
            <a:br>
              <a:rPr lang="en-US" sz="2000" dirty="0"/>
            </a:br>
            <a:endParaRPr lang="en-IN" dirty="0"/>
          </a:p>
        </p:txBody>
      </p:sp>
      <p:sp>
        <p:nvSpPr>
          <p:cNvPr id="5" name="TextBox 4">
            <a:extLst>
              <a:ext uri="{FF2B5EF4-FFF2-40B4-BE49-F238E27FC236}">
                <a16:creationId xmlns:a16="http://schemas.microsoft.com/office/drawing/2014/main" id="{3FC0182D-0647-0033-1B5D-DF98E8ADEE5E}"/>
              </a:ext>
            </a:extLst>
          </p:cNvPr>
          <p:cNvSpPr txBox="1"/>
          <p:nvPr/>
        </p:nvSpPr>
        <p:spPr>
          <a:xfrm>
            <a:off x="522923" y="958334"/>
            <a:ext cx="6097904" cy="461665"/>
          </a:xfrm>
          <a:prstGeom prst="rect">
            <a:avLst/>
          </a:prstGeom>
          <a:noFill/>
        </p:spPr>
        <p:txBody>
          <a:bodyPr wrap="square">
            <a:spAutoFit/>
          </a:bodyPr>
          <a:lstStyle/>
          <a:p>
            <a:r>
              <a:rPr lang="en-IN" sz="2400" b="1" dirty="0"/>
              <a:t>Section 1: Motivation</a:t>
            </a:r>
          </a:p>
        </p:txBody>
      </p:sp>
      <p:sp>
        <p:nvSpPr>
          <p:cNvPr id="7" name="TextBox 6">
            <a:extLst>
              <a:ext uri="{FF2B5EF4-FFF2-40B4-BE49-F238E27FC236}">
                <a16:creationId xmlns:a16="http://schemas.microsoft.com/office/drawing/2014/main" id="{00C4CCF3-BEB9-EBF9-799D-BB5EE7F8E9A0}"/>
              </a:ext>
            </a:extLst>
          </p:cNvPr>
          <p:cNvSpPr txBox="1"/>
          <p:nvPr/>
        </p:nvSpPr>
        <p:spPr>
          <a:xfrm>
            <a:off x="1070810" y="1548408"/>
            <a:ext cx="10633509" cy="646331"/>
          </a:xfrm>
          <a:prstGeom prst="rect">
            <a:avLst/>
          </a:prstGeom>
          <a:noFill/>
        </p:spPr>
        <p:txBody>
          <a:bodyPr wrap="square">
            <a:spAutoFit/>
          </a:bodyPr>
          <a:lstStyle/>
          <a:p>
            <a:r>
              <a:rPr lang="en-US" sz="3600" b="1" dirty="0"/>
              <a:t>Challenges and Objectives</a:t>
            </a:r>
            <a:endParaRPr lang="en-IN" sz="3600" dirty="0"/>
          </a:p>
        </p:txBody>
      </p:sp>
      <p:pic>
        <p:nvPicPr>
          <p:cNvPr id="8" name="Picture 7">
            <a:extLst>
              <a:ext uri="{FF2B5EF4-FFF2-40B4-BE49-F238E27FC236}">
                <a16:creationId xmlns:a16="http://schemas.microsoft.com/office/drawing/2014/main" id="{069C1AF0-B3CA-40D2-8A4D-0F55F804F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9392" y="1189166"/>
            <a:ext cx="3477677" cy="2317103"/>
          </a:xfrm>
          <a:prstGeom prst="rect">
            <a:avLst/>
          </a:prstGeom>
        </p:spPr>
      </p:pic>
      <p:graphicFrame>
        <p:nvGraphicFramePr>
          <p:cNvPr id="9" name="Table 8">
            <a:extLst>
              <a:ext uri="{FF2B5EF4-FFF2-40B4-BE49-F238E27FC236}">
                <a16:creationId xmlns:a16="http://schemas.microsoft.com/office/drawing/2014/main" id="{C691BBA0-8893-3799-F01F-082EB6243BDC}"/>
              </a:ext>
            </a:extLst>
          </p:cNvPr>
          <p:cNvGraphicFramePr>
            <a:graphicFrameLocks noGrp="1"/>
          </p:cNvGraphicFramePr>
          <p:nvPr>
            <p:extLst>
              <p:ext uri="{D42A27DB-BD31-4B8C-83A1-F6EECF244321}">
                <p14:modId xmlns:p14="http://schemas.microsoft.com/office/powerpoint/2010/main" val="3807300830"/>
              </p:ext>
            </p:extLst>
          </p:nvPr>
        </p:nvGraphicFramePr>
        <p:xfrm>
          <a:off x="8130015" y="3626589"/>
          <a:ext cx="3477054" cy="2700055"/>
        </p:xfrm>
        <a:graphic>
          <a:graphicData uri="http://schemas.openxmlformats.org/drawingml/2006/table">
            <a:tbl>
              <a:tblPr>
                <a:tableStyleId>{BDBED569-4797-4DF1-A0F4-6AAB3CD982D8}</a:tableStyleId>
              </a:tblPr>
              <a:tblGrid>
                <a:gridCol w="1159018">
                  <a:extLst>
                    <a:ext uri="{9D8B030D-6E8A-4147-A177-3AD203B41FA5}">
                      <a16:colId xmlns:a16="http://schemas.microsoft.com/office/drawing/2014/main" val="3119912330"/>
                    </a:ext>
                  </a:extLst>
                </a:gridCol>
                <a:gridCol w="1159018">
                  <a:extLst>
                    <a:ext uri="{9D8B030D-6E8A-4147-A177-3AD203B41FA5}">
                      <a16:colId xmlns:a16="http://schemas.microsoft.com/office/drawing/2014/main" val="2303419198"/>
                    </a:ext>
                  </a:extLst>
                </a:gridCol>
                <a:gridCol w="1159018">
                  <a:extLst>
                    <a:ext uri="{9D8B030D-6E8A-4147-A177-3AD203B41FA5}">
                      <a16:colId xmlns:a16="http://schemas.microsoft.com/office/drawing/2014/main" val="3244089643"/>
                    </a:ext>
                  </a:extLst>
                </a:gridCol>
              </a:tblGrid>
              <a:tr h="208373">
                <a:tc>
                  <a:txBody>
                    <a:bodyPr/>
                    <a:lstStyle/>
                    <a:p>
                      <a:pPr algn="ctr" fontAlgn="base">
                        <a:buNone/>
                      </a:pPr>
                      <a:r>
                        <a:rPr lang="en-IN" sz="1200" b="1" dirty="0">
                          <a:effectLst/>
                        </a:rPr>
                        <a:t>Technology</a:t>
                      </a:r>
                      <a:endParaRPr lang="en-IN" sz="1200" dirty="0">
                        <a:effectLst/>
                        <a:latin typeface="inherit"/>
                      </a:endParaRPr>
                    </a:p>
                  </a:txBody>
                  <a:tcPr marL="83680" marR="83680" marT="41840" marB="41840" anchor="ctr"/>
                </a:tc>
                <a:tc>
                  <a:txBody>
                    <a:bodyPr/>
                    <a:lstStyle/>
                    <a:p>
                      <a:pPr algn="ctr" fontAlgn="base">
                        <a:buNone/>
                      </a:pPr>
                      <a:r>
                        <a:rPr lang="en-IN" sz="1200" b="1" dirty="0">
                          <a:effectLst/>
                        </a:rPr>
                        <a:t>Scope</a:t>
                      </a:r>
                      <a:endParaRPr lang="en-IN" sz="1200" dirty="0">
                        <a:effectLst/>
                        <a:latin typeface="inherit"/>
                      </a:endParaRPr>
                    </a:p>
                  </a:txBody>
                  <a:tcPr marL="83680" marR="83680" marT="41840" marB="41840" anchor="ctr"/>
                </a:tc>
                <a:tc>
                  <a:txBody>
                    <a:bodyPr/>
                    <a:lstStyle/>
                    <a:p>
                      <a:pPr algn="ctr" fontAlgn="base">
                        <a:buNone/>
                      </a:pPr>
                      <a:r>
                        <a:rPr lang="en-IN" sz="1200" b="1">
                          <a:effectLst/>
                        </a:rPr>
                        <a:t>Description</a:t>
                      </a:r>
                      <a:endParaRPr lang="en-IN" sz="1200">
                        <a:effectLst/>
                        <a:latin typeface="inherit"/>
                      </a:endParaRPr>
                    </a:p>
                  </a:txBody>
                  <a:tcPr marL="83680" marR="83680" marT="41840" marB="41840" anchor="ctr"/>
                </a:tc>
                <a:extLst>
                  <a:ext uri="{0D108BD9-81ED-4DB2-BD59-A6C34878D82A}">
                    <a16:rowId xmlns:a16="http://schemas.microsoft.com/office/drawing/2014/main" val="2025527858"/>
                  </a:ext>
                </a:extLst>
              </a:tr>
              <a:tr h="1139180">
                <a:tc>
                  <a:txBody>
                    <a:bodyPr/>
                    <a:lstStyle/>
                    <a:p>
                      <a:pPr algn="ctr" defTabSz="722313" fontAlgn="base">
                        <a:buNone/>
                      </a:pPr>
                      <a:r>
                        <a:rPr lang="en-IN" sz="1200" dirty="0">
                          <a:effectLst/>
                        </a:rPr>
                        <a:t>Machine Learning</a:t>
                      </a:r>
                      <a:endParaRPr lang="en-IN" sz="1200" dirty="0">
                        <a:effectLst/>
                        <a:latin typeface="inherit"/>
                      </a:endParaRPr>
                    </a:p>
                  </a:txBody>
                  <a:tcPr marL="83680" marR="83680" marT="41840" marB="41840" anchor="ctr"/>
                </a:tc>
                <a:tc>
                  <a:txBody>
                    <a:bodyPr/>
                    <a:lstStyle/>
                    <a:p>
                      <a:pPr algn="ctr" fontAlgn="base">
                        <a:buNone/>
                      </a:pPr>
                      <a:r>
                        <a:rPr lang="en-IN" sz="1200" dirty="0">
                          <a:effectLst/>
                        </a:rPr>
                        <a:t>Subset of AI</a:t>
                      </a:r>
                      <a:endParaRPr lang="en-IN" sz="1200" dirty="0">
                        <a:effectLst/>
                        <a:latin typeface="inherit"/>
                      </a:endParaRPr>
                    </a:p>
                  </a:txBody>
                  <a:tcPr marL="83680" marR="83680" marT="41840" marB="41840" anchor="ctr"/>
                </a:tc>
                <a:tc>
                  <a:txBody>
                    <a:bodyPr/>
                    <a:lstStyle/>
                    <a:p>
                      <a:pPr algn="ctr" fontAlgn="base">
                        <a:buNone/>
                      </a:pPr>
                      <a:r>
                        <a:rPr lang="en-US" sz="1200" dirty="0">
                          <a:effectLst/>
                        </a:rPr>
                        <a:t>Systems that learn from data without explicit programming</a:t>
                      </a:r>
                      <a:endParaRPr lang="en-US" sz="1200" dirty="0">
                        <a:effectLst/>
                        <a:latin typeface="inherit"/>
                      </a:endParaRPr>
                    </a:p>
                  </a:txBody>
                  <a:tcPr marL="83680" marR="83680" marT="41840" marB="41840" anchor="ctr"/>
                </a:tc>
                <a:extLst>
                  <a:ext uri="{0D108BD9-81ED-4DB2-BD59-A6C34878D82A}">
                    <a16:rowId xmlns:a16="http://schemas.microsoft.com/office/drawing/2014/main" val="3606703537"/>
                  </a:ext>
                </a:extLst>
              </a:tr>
              <a:tr h="1294315">
                <a:tc>
                  <a:txBody>
                    <a:bodyPr/>
                    <a:lstStyle/>
                    <a:p>
                      <a:pPr algn="ctr" fontAlgn="base">
                        <a:buNone/>
                      </a:pPr>
                      <a:r>
                        <a:rPr lang="en-IN" sz="1200" dirty="0">
                          <a:effectLst/>
                        </a:rPr>
                        <a:t>Deep Learning</a:t>
                      </a:r>
                      <a:endParaRPr lang="en-IN" sz="1200" dirty="0">
                        <a:effectLst/>
                        <a:latin typeface="inherit"/>
                      </a:endParaRPr>
                    </a:p>
                  </a:txBody>
                  <a:tcPr marL="83680" marR="83680" marT="41840" marB="41840" anchor="ctr"/>
                </a:tc>
                <a:tc>
                  <a:txBody>
                    <a:bodyPr/>
                    <a:lstStyle/>
                    <a:p>
                      <a:pPr algn="ctr" fontAlgn="base">
                        <a:buNone/>
                      </a:pPr>
                      <a:r>
                        <a:rPr lang="en-IN" sz="1200">
                          <a:effectLst/>
                        </a:rPr>
                        <a:t>Subset of ML</a:t>
                      </a:r>
                      <a:endParaRPr lang="en-IN" sz="1200">
                        <a:effectLst/>
                        <a:latin typeface="inherit"/>
                      </a:endParaRPr>
                    </a:p>
                  </a:txBody>
                  <a:tcPr marL="83680" marR="83680" marT="41840" marB="41840" anchor="ctr"/>
                </a:tc>
                <a:tc>
                  <a:txBody>
                    <a:bodyPr/>
                    <a:lstStyle/>
                    <a:p>
                      <a:pPr algn="ctr" fontAlgn="base">
                        <a:buNone/>
                      </a:pPr>
                      <a:r>
                        <a:rPr lang="en-US" sz="1200" dirty="0">
                          <a:effectLst/>
                        </a:rPr>
                        <a:t>Neural networks with multiple layers for complex pattern recognition</a:t>
                      </a:r>
                      <a:endParaRPr lang="en-US" sz="1200" dirty="0">
                        <a:effectLst/>
                        <a:latin typeface="inherit"/>
                      </a:endParaRPr>
                    </a:p>
                  </a:txBody>
                  <a:tcPr marL="83680" marR="83680" marT="41840" marB="41840" anchor="ctr"/>
                </a:tc>
                <a:extLst>
                  <a:ext uri="{0D108BD9-81ED-4DB2-BD59-A6C34878D82A}">
                    <a16:rowId xmlns:a16="http://schemas.microsoft.com/office/drawing/2014/main" val="1194529013"/>
                  </a:ext>
                </a:extLst>
              </a:tr>
            </a:tbl>
          </a:graphicData>
        </a:graphic>
      </p:graphicFrame>
      <p:sp>
        <p:nvSpPr>
          <p:cNvPr id="10" name="TextBox 9">
            <a:extLst>
              <a:ext uri="{FF2B5EF4-FFF2-40B4-BE49-F238E27FC236}">
                <a16:creationId xmlns:a16="http://schemas.microsoft.com/office/drawing/2014/main" id="{B9B379AF-9AE0-9F4C-D80F-58372DB97465}"/>
              </a:ext>
            </a:extLst>
          </p:cNvPr>
          <p:cNvSpPr txBox="1"/>
          <p:nvPr/>
        </p:nvSpPr>
        <p:spPr>
          <a:xfrm>
            <a:off x="6894095" y="6326644"/>
            <a:ext cx="4810224" cy="246221"/>
          </a:xfrm>
          <a:prstGeom prst="rect">
            <a:avLst/>
          </a:prstGeom>
          <a:noFill/>
        </p:spPr>
        <p:txBody>
          <a:bodyPr wrap="square" rtlCol="0">
            <a:spAutoFit/>
          </a:bodyPr>
          <a:lstStyle/>
          <a:p>
            <a:r>
              <a:rPr lang="en-IN" sz="1000" dirty="0">
                <a:solidFill>
                  <a:schemeClr val="bg1">
                    <a:lumMod val="75000"/>
                  </a:schemeClr>
                </a:solidFill>
              </a:rPr>
              <a:t>https://www.scaler.com/blog/difference-between-machine-learning-and-deep-learning/</a:t>
            </a:r>
          </a:p>
        </p:txBody>
      </p:sp>
      <p:sp>
        <p:nvSpPr>
          <p:cNvPr id="13" name="Slide Number Placeholder 12">
            <a:extLst>
              <a:ext uri="{FF2B5EF4-FFF2-40B4-BE49-F238E27FC236}">
                <a16:creationId xmlns:a16="http://schemas.microsoft.com/office/drawing/2014/main" id="{D4433401-D05D-2282-7FA5-D29A4EEE0025}"/>
              </a:ext>
            </a:extLst>
          </p:cNvPr>
          <p:cNvSpPr>
            <a:spLocks noGrp="1"/>
          </p:cNvSpPr>
          <p:nvPr>
            <p:ph type="sldNum" sz="quarter" idx="12"/>
          </p:nvPr>
        </p:nvSpPr>
        <p:spPr/>
        <p:txBody>
          <a:bodyPr/>
          <a:lstStyle/>
          <a:p>
            <a:fld id="{0675BFE1-678E-4020-ACD1-5206801575C1}" type="slidenum">
              <a:rPr lang="en-IN" smtClean="0"/>
              <a:t>3</a:t>
            </a:fld>
            <a:endParaRPr lang="en-IN"/>
          </a:p>
        </p:txBody>
      </p:sp>
    </p:spTree>
    <p:extLst>
      <p:ext uri="{BB962C8B-B14F-4D97-AF65-F5344CB8AC3E}">
        <p14:creationId xmlns:p14="http://schemas.microsoft.com/office/powerpoint/2010/main" val="71811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5E60C-D5BD-7BE1-828E-703BE2523D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70212-9DF0-10AE-F4C0-69D539F6E447}"/>
              </a:ext>
            </a:extLst>
          </p:cNvPr>
          <p:cNvSpPr>
            <a:spLocks noGrp="1"/>
          </p:cNvSpPr>
          <p:nvPr>
            <p:ph idx="1"/>
          </p:nvPr>
        </p:nvSpPr>
        <p:spPr>
          <a:xfrm>
            <a:off x="522924" y="1419999"/>
            <a:ext cx="10995976" cy="4351338"/>
          </a:xfrm>
        </p:spPr>
        <p:txBody>
          <a:bodyPr>
            <a:noAutofit/>
          </a:bodyPr>
          <a:lstStyle/>
          <a:p>
            <a:pPr indent="0">
              <a:lnSpc>
                <a:spcPct val="100000"/>
              </a:lnSpc>
              <a:buNone/>
            </a:pPr>
            <a:r>
              <a:rPr lang="en-US" sz="2400" b="1" dirty="0"/>
              <a:t>Paper 1: </a:t>
            </a:r>
            <a:r>
              <a:rPr lang="en-US" sz="2400" i="1" dirty="0"/>
              <a:t>Optimized Machine Learning Model for Air Quality Index Prediction in Major Cities in India</a:t>
            </a:r>
          </a:p>
          <a:p>
            <a:pPr indent="0">
              <a:lnSpc>
                <a:spcPct val="100000"/>
              </a:lnSpc>
              <a:buNone/>
            </a:pPr>
            <a:r>
              <a:rPr lang="en-US" sz="1800" b="1" dirty="0"/>
              <a:t>Proposed Model:</a:t>
            </a:r>
          </a:p>
          <a:p>
            <a:pPr lvl="1" indent="0">
              <a:lnSpc>
                <a:spcPct val="100000"/>
              </a:lnSpc>
              <a:buNone/>
            </a:pPr>
            <a:r>
              <a:rPr lang="en-US" sz="1800" dirty="0"/>
              <a:t>A hybrid machine learning model combining </a:t>
            </a:r>
            <a:r>
              <a:rPr lang="en-US" sz="1800" b="1" dirty="0"/>
              <a:t>Grey Wolf Optimization (GWO)</a:t>
            </a:r>
            <a:r>
              <a:rPr lang="en-US" sz="1800" dirty="0"/>
              <a:t> and </a:t>
            </a:r>
            <a:r>
              <a:rPr lang="en-US" sz="1800" b="1" dirty="0"/>
              <a:t>Decision Tree regression</a:t>
            </a:r>
            <a:r>
              <a:rPr lang="en-US" sz="1800" dirty="0"/>
              <a:t>.</a:t>
            </a:r>
          </a:p>
          <a:p>
            <a:pPr indent="0">
              <a:lnSpc>
                <a:spcPct val="100000"/>
              </a:lnSpc>
              <a:buNone/>
            </a:pPr>
            <a:r>
              <a:rPr lang="en-US" sz="1800" b="1" dirty="0"/>
              <a:t>Key Functions:</a:t>
            </a:r>
            <a:endParaRPr lang="en-US" sz="1800" dirty="0"/>
          </a:p>
          <a:p>
            <a:pPr marL="1028700" lvl="1" indent="-342900">
              <a:lnSpc>
                <a:spcPct val="100000"/>
              </a:lnSpc>
              <a:buFont typeface="Wingdings" panose="05000000000000000000" pitchFamily="2" charset="2"/>
              <a:buChar char="§"/>
            </a:pPr>
            <a:r>
              <a:rPr lang="en-US" sz="1800" b="1" dirty="0"/>
              <a:t>GWO:</a:t>
            </a:r>
            <a:r>
              <a:rPr lang="en-US" sz="1800" dirty="0"/>
              <a:t> Used to select the most important pollutant features.</a:t>
            </a:r>
          </a:p>
          <a:p>
            <a:pPr marL="1028700" lvl="1" indent="-342900">
              <a:lnSpc>
                <a:spcPct val="100000"/>
              </a:lnSpc>
              <a:buFont typeface="Wingdings" panose="05000000000000000000" pitchFamily="2" charset="2"/>
              <a:buChar char="§"/>
            </a:pPr>
            <a:r>
              <a:rPr lang="en-US" sz="1800" b="1" dirty="0"/>
              <a:t>Decision Tree:</a:t>
            </a:r>
            <a:r>
              <a:rPr lang="en-US" sz="1800" dirty="0"/>
              <a:t> Used to predict the final AQI categories.</a:t>
            </a:r>
          </a:p>
          <a:p>
            <a:pPr marL="1028700" lvl="1" indent="-342900">
              <a:lnSpc>
                <a:spcPct val="100000"/>
              </a:lnSpc>
              <a:buFont typeface="Wingdings" panose="05000000000000000000" pitchFamily="2" charset="2"/>
              <a:buChar char="§"/>
            </a:pPr>
            <a:r>
              <a:rPr lang="en-US" sz="1800" b="1" dirty="0"/>
              <a:t>Data Handling:</a:t>
            </a:r>
            <a:r>
              <a:rPr lang="en-US" sz="1800" dirty="0"/>
              <a:t> Used </a:t>
            </a:r>
            <a:r>
              <a:rPr lang="en-US" sz="1800" b="1" dirty="0"/>
              <a:t>SMOTE</a:t>
            </a:r>
            <a:r>
              <a:rPr lang="en-US" sz="1800" dirty="0"/>
              <a:t> to balance the dataset and standard processing for missing values.</a:t>
            </a:r>
          </a:p>
          <a:p>
            <a:pPr indent="0">
              <a:lnSpc>
                <a:spcPct val="100000"/>
              </a:lnSpc>
              <a:buNone/>
            </a:pPr>
            <a:r>
              <a:rPr lang="en-US" sz="1800" b="1" dirty="0"/>
              <a:t>Key Findings:</a:t>
            </a:r>
          </a:p>
          <a:p>
            <a:pPr marL="1028700" lvl="1" indent="-342900">
              <a:lnSpc>
                <a:spcPct val="100000"/>
              </a:lnSpc>
              <a:buFont typeface="Wingdings" panose="05000000000000000000" pitchFamily="2" charset="2"/>
              <a:buChar char="§"/>
            </a:pPr>
            <a:r>
              <a:rPr lang="en-US" sz="1800" dirty="0"/>
              <a:t>The study achieved high prediction accuracy ranging from </a:t>
            </a:r>
            <a:r>
              <a:rPr lang="en-US" sz="1800" b="1" dirty="0"/>
              <a:t>88% to 97%</a:t>
            </a:r>
            <a:r>
              <a:rPr lang="en-US" sz="1800" dirty="0"/>
              <a:t>.</a:t>
            </a:r>
          </a:p>
          <a:p>
            <a:pPr marL="1028700" lvl="1" indent="-342900">
              <a:lnSpc>
                <a:spcPct val="100000"/>
              </a:lnSpc>
              <a:buFont typeface="Wingdings" panose="05000000000000000000" pitchFamily="2" charset="2"/>
              <a:buChar char="§"/>
            </a:pPr>
            <a:r>
              <a:rPr lang="en-US" sz="1800" b="1" dirty="0"/>
              <a:t>PM2.5 and PM10</a:t>
            </a:r>
            <a:r>
              <a:rPr lang="en-US" sz="1800" dirty="0"/>
              <a:t> were identified as the primary pollutants affecting AQI levels.</a:t>
            </a:r>
          </a:p>
          <a:p>
            <a:pPr indent="0">
              <a:lnSpc>
                <a:spcPct val="100000"/>
              </a:lnSpc>
              <a:buNone/>
            </a:pPr>
            <a:r>
              <a:rPr lang="en-US" sz="1800" b="1" dirty="0"/>
              <a:t>Critical Analysis:</a:t>
            </a:r>
          </a:p>
          <a:p>
            <a:pPr marL="1028700" lvl="1" indent="-342900">
              <a:lnSpc>
                <a:spcPct val="100000"/>
              </a:lnSpc>
              <a:buFont typeface="Wingdings" panose="05000000000000000000" pitchFamily="2" charset="2"/>
              <a:buChar char="§"/>
            </a:pPr>
            <a:r>
              <a:rPr lang="en-US" sz="1800" b="1" dirty="0"/>
              <a:t>Strength:</a:t>
            </a:r>
            <a:r>
              <a:rPr lang="en-US" sz="1800" dirty="0"/>
              <a:t> Significant accuracy improvements through optimization techniques.</a:t>
            </a:r>
          </a:p>
          <a:p>
            <a:pPr marL="1028700" lvl="1" indent="-342900">
              <a:lnSpc>
                <a:spcPct val="100000"/>
              </a:lnSpc>
              <a:buFont typeface="Wingdings" panose="05000000000000000000" pitchFamily="2" charset="2"/>
              <a:buChar char="§"/>
            </a:pPr>
            <a:r>
              <a:rPr lang="en-US" sz="1800" b="1" dirty="0"/>
              <a:t>Limitation:</a:t>
            </a:r>
            <a:r>
              <a:rPr lang="en-US" sz="1800" dirty="0"/>
              <a:t> Limited seasonal analysis and restricted dataset diversity.</a:t>
            </a:r>
          </a:p>
        </p:txBody>
      </p:sp>
      <p:sp>
        <p:nvSpPr>
          <p:cNvPr id="4" name="TextBox 3">
            <a:extLst>
              <a:ext uri="{FF2B5EF4-FFF2-40B4-BE49-F238E27FC236}">
                <a16:creationId xmlns:a16="http://schemas.microsoft.com/office/drawing/2014/main" id="{DAD95C10-E028-C086-BF46-6CF8EC3A8588}"/>
              </a:ext>
            </a:extLst>
          </p:cNvPr>
          <p:cNvSpPr txBox="1"/>
          <p:nvPr/>
        </p:nvSpPr>
        <p:spPr>
          <a:xfrm>
            <a:off x="522923" y="958334"/>
            <a:ext cx="6097904" cy="461665"/>
          </a:xfrm>
          <a:prstGeom prst="rect">
            <a:avLst/>
          </a:prstGeom>
          <a:noFill/>
        </p:spPr>
        <p:txBody>
          <a:bodyPr wrap="square">
            <a:spAutoFit/>
          </a:bodyPr>
          <a:lstStyle/>
          <a:p>
            <a:r>
              <a:rPr lang="en-US" sz="2400" b="1" dirty="0"/>
              <a:t>Section 2: Literature Review</a:t>
            </a:r>
            <a:endParaRPr lang="en-IN" sz="2400" b="1" dirty="0"/>
          </a:p>
        </p:txBody>
      </p:sp>
      <p:sp>
        <p:nvSpPr>
          <p:cNvPr id="7" name="TextBox 6">
            <a:extLst>
              <a:ext uri="{FF2B5EF4-FFF2-40B4-BE49-F238E27FC236}">
                <a16:creationId xmlns:a16="http://schemas.microsoft.com/office/drawing/2014/main" id="{BDE2FD7E-96E6-2D56-0611-C8F462D08AE0}"/>
              </a:ext>
            </a:extLst>
          </p:cNvPr>
          <p:cNvSpPr txBox="1"/>
          <p:nvPr/>
        </p:nvSpPr>
        <p:spPr>
          <a:xfrm>
            <a:off x="8662604" y="6340585"/>
            <a:ext cx="4810224" cy="246221"/>
          </a:xfrm>
          <a:prstGeom prst="rect">
            <a:avLst/>
          </a:prstGeom>
          <a:noFill/>
        </p:spPr>
        <p:txBody>
          <a:bodyPr wrap="square" rtlCol="0">
            <a:spAutoFit/>
          </a:bodyPr>
          <a:lstStyle/>
          <a:p>
            <a:r>
              <a:rPr lang="en-IN" sz="1000" dirty="0">
                <a:solidFill>
                  <a:schemeClr val="bg1">
                    <a:lumMod val="75000"/>
                  </a:schemeClr>
                </a:solidFill>
              </a:rPr>
              <a:t>https://www.researchgate.net/publication/379152313</a:t>
            </a:r>
          </a:p>
        </p:txBody>
      </p:sp>
      <p:sp>
        <p:nvSpPr>
          <p:cNvPr id="14" name="Slide Number Placeholder 13">
            <a:extLst>
              <a:ext uri="{FF2B5EF4-FFF2-40B4-BE49-F238E27FC236}">
                <a16:creationId xmlns:a16="http://schemas.microsoft.com/office/drawing/2014/main" id="{A6944E0F-3C08-4D14-91BA-A785FD044A43}"/>
              </a:ext>
            </a:extLst>
          </p:cNvPr>
          <p:cNvSpPr>
            <a:spLocks noGrp="1"/>
          </p:cNvSpPr>
          <p:nvPr>
            <p:ph type="sldNum" sz="quarter" idx="12"/>
          </p:nvPr>
        </p:nvSpPr>
        <p:spPr/>
        <p:txBody>
          <a:bodyPr/>
          <a:lstStyle/>
          <a:p>
            <a:fld id="{0675BFE1-678E-4020-ACD1-5206801575C1}" type="slidenum">
              <a:rPr lang="en-IN" smtClean="0"/>
              <a:t>4</a:t>
            </a:fld>
            <a:endParaRPr lang="en-IN"/>
          </a:p>
        </p:txBody>
      </p:sp>
    </p:spTree>
    <p:extLst>
      <p:ext uri="{BB962C8B-B14F-4D97-AF65-F5344CB8AC3E}">
        <p14:creationId xmlns:p14="http://schemas.microsoft.com/office/powerpoint/2010/main" val="14555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4A3A12-DEC3-433B-7F3D-78B89EF6A3FE}"/>
              </a:ext>
            </a:extLst>
          </p:cNvPr>
          <p:cNvSpPr txBox="1"/>
          <p:nvPr/>
        </p:nvSpPr>
        <p:spPr>
          <a:xfrm>
            <a:off x="522923" y="958334"/>
            <a:ext cx="6097904" cy="461665"/>
          </a:xfrm>
          <a:prstGeom prst="rect">
            <a:avLst/>
          </a:prstGeom>
          <a:noFill/>
        </p:spPr>
        <p:txBody>
          <a:bodyPr wrap="square">
            <a:spAutoFit/>
          </a:bodyPr>
          <a:lstStyle/>
          <a:p>
            <a:r>
              <a:rPr lang="en-US" sz="2400" b="1" dirty="0"/>
              <a:t>Section 2: Literature Review</a:t>
            </a:r>
            <a:endParaRPr lang="en-IN" sz="2400" b="1" dirty="0"/>
          </a:p>
        </p:txBody>
      </p:sp>
      <p:sp>
        <p:nvSpPr>
          <p:cNvPr id="5" name="Content Placeholder 2">
            <a:extLst>
              <a:ext uri="{FF2B5EF4-FFF2-40B4-BE49-F238E27FC236}">
                <a16:creationId xmlns:a16="http://schemas.microsoft.com/office/drawing/2014/main" id="{C7EA7D04-24C7-2D17-F850-F12EF3AD03CF}"/>
              </a:ext>
            </a:extLst>
          </p:cNvPr>
          <p:cNvSpPr txBox="1">
            <a:spLocks/>
          </p:cNvSpPr>
          <p:nvPr/>
        </p:nvSpPr>
        <p:spPr>
          <a:xfrm>
            <a:off x="770410" y="1419999"/>
            <a:ext cx="1054529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b="1" dirty="0"/>
              <a:t>Paper 2 : </a:t>
            </a:r>
            <a:r>
              <a:rPr lang="en-US" sz="2400" i="1" dirty="0"/>
              <a:t>Seasonal Analysis of Air Pollution in India (Coastal and Non-Coastal Cities)</a:t>
            </a:r>
          </a:p>
          <a:p>
            <a:pPr marL="0" indent="0">
              <a:lnSpc>
                <a:spcPct val="100000"/>
              </a:lnSpc>
              <a:buNone/>
            </a:pPr>
            <a:r>
              <a:rPr lang="en-US" sz="1800" b="1" dirty="0"/>
              <a:t>Methodology: </a:t>
            </a:r>
          </a:p>
          <a:p>
            <a:pPr lvl="1">
              <a:lnSpc>
                <a:spcPct val="100000"/>
              </a:lnSpc>
              <a:buFont typeface="Wingdings" panose="05000000000000000000" pitchFamily="2" charset="2"/>
              <a:buChar char="§"/>
            </a:pPr>
            <a:r>
              <a:rPr lang="en-US" sz="1800" dirty="0"/>
              <a:t>Utilized </a:t>
            </a:r>
            <a:r>
              <a:rPr lang="en-US" sz="1800" b="1" dirty="0"/>
              <a:t>LSTM (Long Short-Term Memory) </a:t>
            </a:r>
            <a:r>
              <a:rPr lang="en-US" sz="1800" dirty="0"/>
              <a:t>networks to predict AQI values and analyze pollutant trends across different seasons.</a:t>
            </a:r>
          </a:p>
          <a:p>
            <a:pPr marL="0" indent="0">
              <a:lnSpc>
                <a:spcPct val="100000"/>
              </a:lnSpc>
              <a:buNone/>
            </a:pPr>
            <a:r>
              <a:rPr lang="en-US" sz="1800" b="1" dirty="0"/>
              <a:t>Environmental Insights:</a:t>
            </a:r>
          </a:p>
          <a:p>
            <a:pPr lvl="1">
              <a:lnSpc>
                <a:spcPct val="100000"/>
              </a:lnSpc>
              <a:buFont typeface="Wingdings" panose="05000000000000000000" pitchFamily="2" charset="2"/>
              <a:buChar char="§"/>
            </a:pPr>
            <a:r>
              <a:rPr lang="en-US" sz="1800" b="1" dirty="0"/>
              <a:t>Monsoon Season: </a:t>
            </a:r>
            <a:r>
              <a:rPr lang="en-US" sz="1800" dirty="0"/>
              <a:t>AQI levels are generally lower as rainfall helps remove pollutants from the air.</a:t>
            </a:r>
          </a:p>
          <a:p>
            <a:pPr lvl="1">
              <a:lnSpc>
                <a:spcPct val="100000"/>
              </a:lnSpc>
              <a:buFont typeface="Wingdings" panose="05000000000000000000" pitchFamily="2" charset="2"/>
              <a:buChar char="§"/>
            </a:pPr>
            <a:r>
              <a:rPr lang="en-US" sz="1800" b="1" dirty="0"/>
              <a:t>Post-Monsoon: </a:t>
            </a:r>
            <a:r>
              <a:rPr lang="en-US" sz="1800" dirty="0"/>
              <a:t>Pollution increases significantly due to industrial emissions and crop burning.</a:t>
            </a:r>
          </a:p>
          <a:p>
            <a:pPr lvl="1">
              <a:lnSpc>
                <a:spcPct val="100000"/>
              </a:lnSpc>
              <a:buFont typeface="Wingdings" panose="05000000000000000000" pitchFamily="2" charset="2"/>
              <a:buChar char="§"/>
            </a:pPr>
            <a:r>
              <a:rPr lang="en-US" sz="1800" b="1" dirty="0"/>
              <a:t>Geographical Impact: </a:t>
            </a:r>
            <a:r>
              <a:rPr lang="en-US" sz="1800" dirty="0"/>
              <a:t>Coastal areas maintain better air quality than non-coastal cities due to sea breezes dispersing pollutants.</a:t>
            </a:r>
          </a:p>
          <a:p>
            <a:pPr marL="0" indent="0">
              <a:lnSpc>
                <a:spcPct val="100000"/>
              </a:lnSpc>
              <a:buNone/>
            </a:pPr>
            <a:r>
              <a:rPr lang="en-US" sz="1800" b="1" dirty="0"/>
              <a:t>Key Findings:</a:t>
            </a:r>
          </a:p>
          <a:p>
            <a:pPr lvl="1">
              <a:lnSpc>
                <a:spcPct val="100000"/>
              </a:lnSpc>
              <a:buFont typeface="Wingdings" panose="05000000000000000000" pitchFamily="2" charset="2"/>
              <a:buChar char="§"/>
            </a:pPr>
            <a:r>
              <a:rPr lang="en-US" sz="1800" dirty="0"/>
              <a:t>Confirmed that </a:t>
            </a:r>
            <a:r>
              <a:rPr lang="en-US" sz="1800" b="1" dirty="0"/>
              <a:t>PM2.5</a:t>
            </a:r>
            <a:r>
              <a:rPr lang="en-US" sz="1800" dirty="0"/>
              <a:t> and </a:t>
            </a:r>
            <a:r>
              <a:rPr lang="en-US" sz="1800" b="1" dirty="0"/>
              <a:t>PM10</a:t>
            </a:r>
            <a:r>
              <a:rPr lang="en-US" sz="1800" dirty="0"/>
              <a:t> strongly affect AQI across all seasons.</a:t>
            </a:r>
          </a:p>
          <a:p>
            <a:pPr marL="0" indent="0">
              <a:lnSpc>
                <a:spcPct val="100000"/>
              </a:lnSpc>
              <a:buNone/>
            </a:pPr>
            <a:r>
              <a:rPr lang="en-US" sz="1800" b="1" dirty="0"/>
              <a:t>Critical Analysis:</a:t>
            </a:r>
          </a:p>
          <a:p>
            <a:pPr lvl="1">
              <a:lnSpc>
                <a:spcPct val="100000"/>
              </a:lnSpc>
              <a:buFont typeface="Wingdings" panose="05000000000000000000" pitchFamily="2" charset="2"/>
              <a:buChar char="§"/>
            </a:pPr>
            <a:r>
              <a:rPr lang="en-US" sz="1800" b="1" dirty="0"/>
              <a:t>Strength: </a:t>
            </a:r>
            <a:r>
              <a:rPr lang="en-US" sz="1800" dirty="0"/>
              <a:t>Effective seasonal comparison of pollution patterns.</a:t>
            </a:r>
          </a:p>
          <a:p>
            <a:pPr lvl="1">
              <a:lnSpc>
                <a:spcPct val="100000"/>
              </a:lnSpc>
              <a:buFont typeface="Wingdings" panose="05000000000000000000" pitchFamily="2" charset="2"/>
              <a:buChar char="§"/>
            </a:pPr>
            <a:r>
              <a:rPr lang="en-US" sz="1800" b="1" dirty="0"/>
              <a:t>Limitation: </a:t>
            </a:r>
            <a:r>
              <a:rPr lang="en-US" sz="1800" dirty="0"/>
              <a:t>Limited feature diversity and lack of broad model comparisons.</a:t>
            </a:r>
          </a:p>
        </p:txBody>
      </p:sp>
      <p:sp>
        <p:nvSpPr>
          <p:cNvPr id="8" name="TextBox 7">
            <a:extLst>
              <a:ext uri="{FF2B5EF4-FFF2-40B4-BE49-F238E27FC236}">
                <a16:creationId xmlns:a16="http://schemas.microsoft.com/office/drawing/2014/main" id="{CA2664DB-C416-624E-2C8D-81B6983B8AF2}"/>
              </a:ext>
            </a:extLst>
          </p:cNvPr>
          <p:cNvSpPr txBox="1"/>
          <p:nvPr/>
        </p:nvSpPr>
        <p:spPr>
          <a:xfrm>
            <a:off x="8680562" y="6360510"/>
            <a:ext cx="4810224" cy="246221"/>
          </a:xfrm>
          <a:prstGeom prst="rect">
            <a:avLst/>
          </a:prstGeom>
          <a:noFill/>
        </p:spPr>
        <p:txBody>
          <a:bodyPr wrap="square" rtlCol="0">
            <a:spAutoFit/>
          </a:bodyPr>
          <a:lstStyle/>
          <a:p>
            <a:r>
              <a:rPr lang="en-IN" sz="1000" dirty="0">
                <a:solidFill>
                  <a:schemeClr val="bg1">
                    <a:lumMod val="75000"/>
                  </a:schemeClr>
                </a:solidFill>
                <a:hlinkClick r:id="rId3">
                  <a:extLst>
                    <a:ext uri="{A12FA001-AC4F-418D-AE19-62706E023703}">
                      <ahyp:hlinkClr xmlns:ahyp="http://schemas.microsoft.com/office/drawing/2018/hyperlinkcolor" val="tx"/>
                    </a:ext>
                  </a:extLst>
                </a:hlinkClick>
              </a:rPr>
              <a:t>https://www.researchgate.net/publication/387075271</a:t>
            </a:r>
            <a:endParaRPr lang="en-IN" sz="1000" dirty="0">
              <a:solidFill>
                <a:schemeClr val="bg1">
                  <a:lumMod val="75000"/>
                </a:schemeClr>
              </a:solidFill>
            </a:endParaRPr>
          </a:p>
        </p:txBody>
      </p:sp>
      <p:sp>
        <p:nvSpPr>
          <p:cNvPr id="14" name="Slide Number Placeholder 13">
            <a:extLst>
              <a:ext uri="{FF2B5EF4-FFF2-40B4-BE49-F238E27FC236}">
                <a16:creationId xmlns:a16="http://schemas.microsoft.com/office/drawing/2014/main" id="{BCA4BBD9-FE4F-F3F0-8B37-18FEF46A068C}"/>
              </a:ext>
            </a:extLst>
          </p:cNvPr>
          <p:cNvSpPr>
            <a:spLocks noGrp="1"/>
          </p:cNvSpPr>
          <p:nvPr>
            <p:ph type="sldNum" sz="quarter" idx="12"/>
          </p:nvPr>
        </p:nvSpPr>
        <p:spPr/>
        <p:txBody>
          <a:bodyPr/>
          <a:lstStyle/>
          <a:p>
            <a:fld id="{0675BFE1-678E-4020-ACD1-5206801575C1}" type="slidenum">
              <a:rPr lang="en-IN" smtClean="0"/>
              <a:t>5</a:t>
            </a:fld>
            <a:endParaRPr lang="en-IN"/>
          </a:p>
        </p:txBody>
      </p:sp>
    </p:spTree>
    <p:extLst>
      <p:ext uri="{BB962C8B-B14F-4D97-AF65-F5344CB8AC3E}">
        <p14:creationId xmlns:p14="http://schemas.microsoft.com/office/powerpoint/2010/main" val="1196015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A472B1-D0EC-332A-4031-5F0B5F262295}"/>
              </a:ext>
            </a:extLst>
          </p:cNvPr>
          <p:cNvSpPr>
            <a:spLocks noGrp="1"/>
          </p:cNvSpPr>
          <p:nvPr>
            <p:ph idx="1"/>
          </p:nvPr>
        </p:nvSpPr>
        <p:spPr>
          <a:xfrm>
            <a:off x="451803" y="1288676"/>
            <a:ext cx="9065577" cy="1636434"/>
          </a:xfrm>
        </p:spPr>
        <p:txBody>
          <a:bodyPr>
            <a:noAutofit/>
          </a:bodyPr>
          <a:lstStyle/>
          <a:p>
            <a:pPr>
              <a:lnSpc>
                <a:spcPct val="100000"/>
              </a:lnSpc>
              <a:buFont typeface="Wingdings" panose="05000000000000000000" pitchFamily="2" charset="2"/>
              <a:buChar char="q"/>
            </a:pPr>
            <a:r>
              <a:rPr lang="en-US" sz="1900" b="1" dirty="0"/>
              <a:t>Dataset Attributes and Source</a:t>
            </a:r>
            <a:endParaRPr lang="en-US" sz="1900" dirty="0"/>
          </a:p>
          <a:p>
            <a:pPr marL="360363" lvl="1">
              <a:lnSpc>
                <a:spcPct val="100000"/>
              </a:lnSpc>
              <a:buFont typeface="Wingdings" panose="05000000000000000000" pitchFamily="2" charset="2"/>
              <a:buChar char="§"/>
            </a:pPr>
            <a:r>
              <a:rPr lang="en-US" sz="1800" b="1" dirty="0"/>
              <a:t>Source:</a:t>
            </a:r>
            <a:r>
              <a:rPr lang="en-US" sz="1800" dirty="0"/>
              <a:t> Publicly available Kaggle dataset: "India City Air Quality Index Dataset (2015-2023)".</a:t>
            </a:r>
          </a:p>
          <a:p>
            <a:pPr marL="360363" lvl="1">
              <a:lnSpc>
                <a:spcPct val="100000"/>
              </a:lnSpc>
              <a:buFont typeface="Wingdings" panose="05000000000000000000" pitchFamily="2" charset="2"/>
              <a:buChar char="§"/>
            </a:pPr>
            <a:r>
              <a:rPr lang="en-US" sz="1800" b="1" dirty="0"/>
              <a:t>Features:</a:t>
            </a:r>
            <a:r>
              <a:rPr lang="en-US" sz="1800" dirty="0"/>
              <a:t> Includes 8 relevant features representing particulate (PM2.5, PM10) and gaseous (NO2, SO2, CO, O3) pollutants.</a:t>
            </a:r>
          </a:p>
          <a:p>
            <a:pPr marL="360363" lvl="1">
              <a:lnSpc>
                <a:spcPct val="100000"/>
              </a:lnSpc>
              <a:buFont typeface="Wingdings" panose="05000000000000000000" pitchFamily="2" charset="2"/>
              <a:buChar char="§"/>
            </a:pPr>
            <a:r>
              <a:rPr lang="en-US" sz="1800" b="1" dirty="0"/>
              <a:t>Target:</a:t>
            </a:r>
            <a:r>
              <a:rPr lang="en-US" sz="1800" dirty="0"/>
              <a:t> AQI values and their categorical classifications (Good, Satisfactory, Moderate, Poor).</a:t>
            </a:r>
          </a:p>
        </p:txBody>
      </p:sp>
      <p:sp>
        <p:nvSpPr>
          <p:cNvPr id="4" name="TextBox 3">
            <a:extLst>
              <a:ext uri="{FF2B5EF4-FFF2-40B4-BE49-F238E27FC236}">
                <a16:creationId xmlns:a16="http://schemas.microsoft.com/office/drawing/2014/main" id="{A8780173-B641-A34E-D5DC-EC9657A1C335}"/>
              </a:ext>
            </a:extLst>
          </p:cNvPr>
          <p:cNvSpPr txBox="1"/>
          <p:nvPr/>
        </p:nvSpPr>
        <p:spPr>
          <a:xfrm>
            <a:off x="522923" y="958334"/>
            <a:ext cx="6097904" cy="461665"/>
          </a:xfrm>
          <a:prstGeom prst="rect">
            <a:avLst/>
          </a:prstGeom>
          <a:noFill/>
        </p:spPr>
        <p:txBody>
          <a:bodyPr wrap="square">
            <a:spAutoFit/>
          </a:bodyPr>
          <a:lstStyle/>
          <a:p>
            <a:r>
              <a:rPr lang="en-US" sz="2400" b="1" dirty="0"/>
              <a:t>Section 3: Dataset Description</a:t>
            </a:r>
            <a:endParaRPr lang="en-IN" sz="2400" b="1" dirty="0"/>
          </a:p>
        </p:txBody>
      </p:sp>
      <p:sp>
        <p:nvSpPr>
          <p:cNvPr id="6" name="TextBox 5">
            <a:extLst>
              <a:ext uri="{FF2B5EF4-FFF2-40B4-BE49-F238E27FC236}">
                <a16:creationId xmlns:a16="http://schemas.microsoft.com/office/drawing/2014/main" id="{F9574138-BC85-0BBB-6676-F172A803167B}"/>
              </a:ext>
            </a:extLst>
          </p:cNvPr>
          <p:cNvSpPr txBox="1"/>
          <p:nvPr/>
        </p:nvSpPr>
        <p:spPr>
          <a:xfrm>
            <a:off x="451803" y="2872306"/>
            <a:ext cx="9065577" cy="2046714"/>
          </a:xfrm>
          <a:prstGeom prst="rect">
            <a:avLst/>
          </a:prstGeom>
          <a:noFill/>
        </p:spPr>
        <p:txBody>
          <a:bodyPr wrap="square">
            <a:spAutoFit/>
          </a:bodyPr>
          <a:lstStyle/>
          <a:p>
            <a:pPr>
              <a:lnSpc>
                <a:spcPct val="100000"/>
              </a:lnSpc>
              <a:buFont typeface="Wingdings" panose="05000000000000000000" pitchFamily="2" charset="2"/>
              <a:buChar char="q"/>
            </a:pPr>
            <a:r>
              <a:rPr lang="en-US" sz="1900" b="1" dirty="0"/>
              <a:t>Data Preprocessing</a:t>
            </a:r>
            <a:endParaRPr lang="en-US" sz="1900" dirty="0"/>
          </a:p>
          <a:p>
            <a:pPr marL="360363" lvl="1">
              <a:lnSpc>
                <a:spcPct val="100000"/>
              </a:lnSpc>
              <a:buFont typeface="Wingdings" panose="05000000000000000000" pitchFamily="2" charset="2"/>
              <a:buChar char="§"/>
            </a:pPr>
            <a:r>
              <a:rPr lang="en-US" b="1" dirty="0"/>
              <a:t> Cleaning:</a:t>
            </a:r>
            <a:r>
              <a:rPr lang="en-US" dirty="0"/>
              <a:t> Handled inconsistent values and validated the relationship between PM2.5 and PM10.</a:t>
            </a:r>
          </a:p>
          <a:p>
            <a:pPr marL="360363" lvl="1">
              <a:lnSpc>
                <a:spcPct val="100000"/>
              </a:lnSpc>
              <a:buFont typeface="Wingdings" panose="05000000000000000000" pitchFamily="2" charset="2"/>
              <a:buChar char="§"/>
            </a:pPr>
            <a:r>
              <a:rPr lang="en-US" b="1" dirty="0"/>
              <a:t> Feature Engineering:</a:t>
            </a:r>
            <a:r>
              <a:rPr lang="en-US" dirty="0"/>
              <a:t> Derived a "season" feature from the date column (Winter, Summer, Monsoon, Post-Monsoon).</a:t>
            </a:r>
          </a:p>
          <a:p>
            <a:pPr marL="360363" lvl="1">
              <a:lnSpc>
                <a:spcPct val="100000"/>
              </a:lnSpc>
              <a:buFont typeface="Wingdings" panose="05000000000000000000" pitchFamily="2" charset="2"/>
              <a:buChar char="§"/>
            </a:pPr>
            <a:r>
              <a:rPr lang="en-US" b="1" dirty="0"/>
              <a:t> Standardization:</a:t>
            </a:r>
            <a:r>
              <a:rPr lang="en-US" dirty="0"/>
              <a:t> Features were scaled to a mean of 0 and variance of 1 for sensitivity dependent models like SVM.</a:t>
            </a:r>
          </a:p>
        </p:txBody>
      </p:sp>
      <p:sp>
        <p:nvSpPr>
          <p:cNvPr id="8" name="TextBox 7">
            <a:extLst>
              <a:ext uri="{FF2B5EF4-FFF2-40B4-BE49-F238E27FC236}">
                <a16:creationId xmlns:a16="http://schemas.microsoft.com/office/drawing/2014/main" id="{290B1CB9-E58D-21D8-A7A9-DC54C1C6EC8D}"/>
              </a:ext>
            </a:extLst>
          </p:cNvPr>
          <p:cNvSpPr txBox="1"/>
          <p:nvPr/>
        </p:nvSpPr>
        <p:spPr>
          <a:xfrm>
            <a:off x="451803" y="4802133"/>
            <a:ext cx="9065577" cy="1846659"/>
          </a:xfrm>
          <a:prstGeom prst="rect">
            <a:avLst/>
          </a:prstGeom>
          <a:noFill/>
        </p:spPr>
        <p:txBody>
          <a:bodyPr wrap="square">
            <a:spAutoFit/>
          </a:bodyPr>
          <a:lstStyle/>
          <a:p>
            <a:pPr>
              <a:lnSpc>
                <a:spcPct val="100000"/>
              </a:lnSpc>
              <a:buFont typeface="Wingdings" panose="05000000000000000000" pitchFamily="2" charset="2"/>
              <a:buChar char="q"/>
            </a:pPr>
            <a:r>
              <a:rPr lang="en-US" sz="1900" b="1" dirty="0"/>
              <a:t>Exploratory Data Analysis (EDA) Insights</a:t>
            </a:r>
            <a:endParaRPr lang="en-US" sz="1900" dirty="0"/>
          </a:p>
          <a:p>
            <a:pPr marL="360363" lvl="1">
              <a:buFont typeface="Wingdings" panose="05000000000000000000" pitchFamily="2" charset="2"/>
              <a:buChar char="§"/>
            </a:pPr>
            <a:r>
              <a:rPr lang="en-US" sz="1900" b="1" dirty="0"/>
              <a:t> </a:t>
            </a:r>
            <a:r>
              <a:rPr lang="en-US" b="1" dirty="0"/>
              <a:t>Correlations:</a:t>
            </a:r>
            <a:r>
              <a:rPr lang="en-US" dirty="0"/>
              <a:t> Strong positive correlation between PM2.5 and PM10, confirming they are the primary drivers of AQI.</a:t>
            </a:r>
          </a:p>
          <a:p>
            <a:pPr marL="360363" lvl="1">
              <a:lnSpc>
                <a:spcPct val="100000"/>
              </a:lnSpc>
              <a:buFont typeface="Wingdings" panose="05000000000000000000" pitchFamily="2" charset="2"/>
              <a:buChar char="§"/>
            </a:pPr>
            <a:r>
              <a:rPr lang="en-US" b="1" dirty="0"/>
              <a:t> Seasonal Patterns:</a:t>
            </a:r>
            <a:r>
              <a:rPr lang="en-US" dirty="0"/>
              <a:t> Average AQI is stable, but extreme pollution spikes are concentrated in winter and post-monsoon periods.</a:t>
            </a:r>
          </a:p>
          <a:p>
            <a:pPr marL="360363" lvl="1">
              <a:lnSpc>
                <a:spcPct val="100000"/>
              </a:lnSpc>
              <a:buFont typeface="Wingdings" panose="05000000000000000000" pitchFamily="2" charset="2"/>
              <a:buChar char="§"/>
            </a:pPr>
            <a:r>
              <a:rPr lang="en-US" b="1" dirty="0"/>
              <a:t> VIF Analysis:</a:t>
            </a:r>
            <a:r>
              <a:rPr lang="en-US" dirty="0"/>
              <a:t> Values between 1-5 indicated no severe multicollinearity.</a:t>
            </a:r>
          </a:p>
        </p:txBody>
      </p:sp>
      <p:sp>
        <p:nvSpPr>
          <p:cNvPr id="19" name="Slide Number Placeholder 18">
            <a:extLst>
              <a:ext uri="{FF2B5EF4-FFF2-40B4-BE49-F238E27FC236}">
                <a16:creationId xmlns:a16="http://schemas.microsoft.com/office/drawing/2014/main" id="{A58DDFF0-AE1A-55F8-3E58-024137F640F8}"/>
              </a:ext>
            </a:extLst>
          </p:cNvPr>
          <p:cNvSpPr>
            <a:spLocks noGrp="1"/>
          </p:cNvSpPr>
          <p:nvPr>
            <p:ph type="sldNum" sz="quarter" idx="12"/>
          </p:nvPr>
        </p:nvSpPr>
        <p:spPr/>
        <p:txBody>
          <a:bodyPr/>
          <a:lstStyle/>
          <a:p>
            <a:fld id="{0675BFE1-678E-4020-ACD1-5206801575C1}" type="slidenum">
              <a:rPr lang="en-IN" smtClean="0"/>
              <a:t>6</a:t>
            </a:fld>
            <a:endParaRPr lang="en-IN"/>
          </a:p>
        </p:txBody>
      </p:sp>
    </p:spTree>
    <p:extLst>
      <p:ext uri="{BB962C8B-B14F-4D97-AF65-F5344CB8AC3E}">
        <p14:creationId xmlns:p14="http://schemas.microsoft.com/office/powerpoint/2010/main" val="298760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0E58A-BAC8-CE9A-3270-316E6D4900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612427-0CFA-B263-87D3-AE6C327ABA5E}"/>
              </a:ext>
            </a:extLst>
          </p:cNvPr>
          <p:cNvSpPr txBox="1"/>
          <p:nvPr/>
        </p:nvSpPr>
        <p:spPr>
          <a:xfrm>
            <a:off x="522923" y="958334"/>
            <a:ext cx="6097904" cy="461665"/>
          </a:xfrm>
          <a:prstGeom prst="rect">
            <a:avLst/>
          </a:prstGeom>
          <a:noFill/>
        </p:spPr>
        <p:txBody>
          <a:bodyPr wrap="square">
            <a:spAutoFit/>
          </a:bodyPr>
          <a:lstStyle/>
          <a:p>
            <a:r>
              <a:rPr lang="en-US" sz="2400" b="1" dirty="0"/>
              <a:t>Section 3: Dataset Description</a:t>
            </a:r>
            <a:endParaRPr lang="en-IN" sz="2400" b="1" dirty="0"/>
          </a:p>
        </p:txBody>
      </p:sp>
      <p:pic>
        <p:nvPicPr>
          <p:cNvPr id="10" name="Picture 9">
            <a:extLst>
              <a:ext uri="{FF2B5EF4-FFF2-40B4-BE49-F238E27FC236}">
                <a16:creationId xmlns:a16="http://schemas.microsoft.com/office/drawing/2014/main" id="{FA475044-4FFC-62A5-2400-1D7679A3159A}"/>
              </a:ext>
            </a:extLst>
          </p:cNvPr>
          <p:cNvPicPr>
            <a:picLocks noChangeAspect="1"/>
          </p:cNvPicPr>
          <p:nvPr/>
        </p:nvPicPr>
        <p:blipFill>
          <a:blip r:embed="rId2"/>
          <a:stretch>
            <a:fillRect/>
          </a:stretch>
        </p:blipFill>
        <p:spPr>
          <a:xfrm>
            <a:off x="1143675" y="1368760"/>
            <a:ext cx="6036206" cy="5194556"/>
          </a:xfrm>
          <a:prstGeom prst="rect">
            <a:avLst/>
          </a:prstGeom>
          <a:ln w="19050">
            <a:solidFill>
              <a:schemeClr val="tx1"/>
            </a:solidFill>
          </a:ln>
        </p:spPr>
      </p:pic>
      <p:pic>
        <p:nvPicPr>
          <p:cNvPr id="12" name="Picture 11">
            <a:extLst>
              <a:ext uri="{FF2B5EF4-FFF2-40B4-BE49-F238E27FC236}">
                <a16:creationId xmlns:a16="http://schemas.microsoft.com/office/drawing/2014/main" id="{2AE5707E-3565-66D4-2598-DFAD8386810B}"/>
              </a:ext>
            </a:extLst>
          </p:cNvPr>
          <p:cNvPicPr>
            <a:picLocks noChangeAspect="1"/>
          </p:cNvPicPr>
          <p:nvPr/>
        </p:nvPicPr>
        <p:blipFill>
          <a:blip r:embed="rId3"/>
          <a:stretch>
            <a:fillRect/>
          </a:stretch>
        </p:blipFill>
        <p:spPr>
          <a:xfrm>
            <a:off x="7796799" y="1027340"/>
            <a:ext cx="3848214" cy="2870892"/>
          </a:xfrm>
          <a:prstGeom prst="rect">
            <a:avLst/>
          </a:prstGeom>
          <a:ln w="19050">
            <a:solidFill>
              <a:schemeClr val="tx1"/>
            </a:solidFill>
          </a:ln>
        </p:spPr>
      </p:pic>
      <p:pic>
        <p:nvPicPr>
          <p:cNvPr id="14" name="Picture 13">
            <a:extLst>
              <a:ext uri="{FF2B5EF4-FFF2-40B4-BE49-F238E27FC236}">
                <a16:creationId xmlns:a16="http://schemas.microsoft.com/office/drawing/2014/main" id="{30A6CE96-D76D-628B-DBE7-0488B1B4A1A8}"/>
              </a:ext>
            </a:extLst>
          </p:cNvPr>
          <p:cNvPicPr>
            <a:picLocks noChangeAspect="1"/>
          </p:cNvPicPr>
          <p:nvPr/>
        </p:nvPicPr>
        <p:blipFill>
          <a:blip r:embed="rId4"/>
          <a:stretch>
            <a:fillRect/>
          </a:stretch>
        </p:blipFill>
        <p:spPr>
          <a:xfrm>
            <a:off x="7205013" y="3915238"/>
            <a:ext cx="4440000" cy="2648738"/>
          </a:xfrm>
          <a:prstGeom prst="rect">
            <a:avLst/>
          </a:prstGeom>
          <a:ln w="19050">
            <a:solidFill>
              <a:schemeClr val="tx1"/>
            </a:solidFill>
          </a:ln>
        </p:spPr>
      </p:pic>
      <p:sp>
        <p:nvSpPr>
          <p:cNvPr id="11" name="Slide Number Placeholder 10">
            <a:extLst>
              <a:ext uri="{FF2B5EF4-FFF2-40B4-BE49-F238E27FC236}">
                <a16:creationId xmlns:a16="http://schemas.microsoft.com/office/drawing/2014/main" id="{E65FAEB5-BAA3-B3FC-1263-689979D02518}"/>
              </a:ext>
            </a:extLst>
          </p:cNvPr>
          <p:cNvSpPr>
            <a:spLocks noGrp="1"/>
          </p:cNvSpPr>
          <p:nvPr>
            <p:ph type="sldNum" sz="quarter" idx="12"/>
          </p:nvPr>
        </p:nvSpPr>
        <p:spPr/>
        <p:txBody>
          <a:bodyPr/>
          <a:lstStyle/>
          <a:p>
            <a:fld id="{0675BFE1-678E-4020-ACD1-5206801575C1}" type="slidenum">
              <a:rPr lang="en-IN" smtClean="0"/>
              <a:t>7</a:t>
            </a:fld>
            <a:endParaRPr lang="en-IN"/>
          </a:p>
        </p:txBody>
      </p:sp>
    </p:spTree>
    <p:extLst>
      <p:ext uri="{BB962C8B-B14F-4D97-AF65-F5344CB8AC3E}">
        <p14:creationId xmlns:p14="http://schemas.microsoft.com/office/powerpoint/2010/main" val="622923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9E2E92-D425-71B4-CFA0-12D698837B24}"/>
              </a:ext>
            </a:extLst>
          </p:cNvPr>
          <p:cNvSpPr txBox="1"/>
          <p:nvPr/>
        </p:nvSpPr>
        <p:spPr>
          <a:xfrm>
            <a:off x="522923" y="958334"/>
            <a:ext cx="6097904" cy="461665"/>
          </a:xfrm>
          <a:prstGeom prst="rect">
            <a:avLst/>
          </a:prstGeom>
          <a:noFill/>
        </p:spPr>
        <p:txBody>
          <a:bodyPr wrap="square">
            <a:spAutoFit/>
          </a:bodyPr>
          <a:lstStyle/>
          <a:p>
            <a:r>
              <a:rPr lang="en-US" sz="2400" b="1" dirty="0"/>
              <a:t>Section 4: Methodology</a:t>
            </a:r>
            <a:endParaRPr lang="en-IN" sz="2400" b="1" dirty="0"/>
          </a:p>
        </p:txBody>
      </p:sp>
      <p:sp>
        <p:nvSpPr>
          <p:cNvPr id="10" name="Slide Number Placeholder 9">
            <a:extLst>
              <a:ext uri="{FF2B5EF4-FFF2-40B4-BE49-F238E27FC236}">
                <a16:creationId xmlns:a16="http://schemas.microsoft.com/office/drawing/2014/main" id="{A81059E8-3583-6597-54B8-45A39CCB32B0}"/>
              </a:ext>
            </a:extLst>
          </p:cNvPr>
          <p:cNvSpPr>
            <a:spLocks noGrp="1"/>
          </p:cNvSpPr>
          <p:nvPr>
            <p:ph type="sldNum" sz="quarter" idx="12"/>
          </p:nvPr>
        </p:nvSpPr>
        <p:spPr/>
        <p:txBody>
          <a:bodyPr/>
          <a:lstStyle/>
          <a:p>
            <a:fld id="{0675BFE1-678E-4020-ACD1-5206801575C1}" type="slidenum">
              <a:rPr lang="en-IN" smtClean="0"/>
              <a:t>8</a:t>
            </a:fld>
            <a:endParaRPr lang="en-IN"/>
          </a:p>
        </p:txBody>
      </p:sp>
      <p:sp>
        <p:nvSpPr>
          <p:cNvPr id="18" name="TextBox 17">
            <a:extLst>
              <a:ext uri="{FF2B5EF4-FFF2-40B4-BE49-F238E27FC236}">
                <a16:creationId xmlns:a16="http://schemas.microsoft.com/office/drawing/2014/main" id="{51FDC157-E429-8998-4BB8-8E8145BF02D1}"/>
              </a:ext>
            </a:extLst>
          </p:cNvPr>
          <p:cNvSpPr txBox="1"/>
          <p:nvPr/>
        </p:nvSpPr>
        <p:spPr>
          <a:xfrm>
            <a:off x="1755606" y="1419999"/>
            <a:ext cx="8512343" cy="4893647"/>
          </a:xfrm>
          <a:prstGeom prst="rect">
            <a:avLst/>
          </a:prstGeom>
          <a:noFill/>
        </p:spPr>
        <p:txBody>
          <a:bodyPr wrap="square">
            <a:spAutoFit/>
          </a:bodyPr>
          <a:lstStyle/>
          <a:p>
            <a:pPr>
              <a:buNone/>
            </a:pPr>
            <a:r>
              <a:rPr lang="en-US" sz="2800" b="1" dirty="0"/>
              <a:t>Model 1 – Multiple Linear Regression (MLR)</a:t>
            </a:r>
          </a:p>
          <a:p>
            <a:pPr>
              <a:buNone/>
            </a:pPr>
            <a:endParaRPr lang="en-US" sz="1400" b="1" dirty="0"/>
          </a:p>
          <a:p>
            <a:pPr marL="285750" indent="-285750">
              <a:buFont typeface="Wingdings" panose="05000000000000000000" pitchFamily="2" charset="2"/>
              <a:buChar char="q"/>
            </a:pPr>
            <a:r>
              <a:rPr lang="en-US" b="1" dirty="0"/>
              <a:t>Core Logic</a:t>
            </a:r>
            <a:r>
              <a:rPr lang="en-US" dirty="0"/>
              <a:t>: </a:t>
            </a:r>
          </a:p>
          <a:p>
            <a:pPr lvl="1"/>
            <a:r>
              <a:rPr lang="en-US" dirty="0"/>
              <a:t>A parametric approach that assumes a linear relationship between pollutants (PM2.5, NO2, etc.) and the numerical AQI value.</a:t>
            </a:r>
          </a:p>
          <a:p>
            <a:pPr marL="285750" indent="-285750">
              <a:buFont typeface="Wingdings" panose="05000000000000000000" pitchFamily="2" charset="2"/>
              <a:buChar char="q"/>
            </a:pPr>
            <a:r>
              <a:rPr lang="en-US" b="1" dirty="0"/>
              <a:t>The "Weighted" Innovation</a:t>
            </a:r>
            <a:r>
              <a:rPr lang="en-US" dirty="0"/>
              <a:t>:</a:t>
            </a:r>
          </a:p>
          <a:p>
            <a:pPr marL="742950" lvl="1" indent="-285750">
              <a:buFont typeface="Wingdings" panose="05000000000000000000" pitchFamily="2" charset="2"/>
              <a:buChar char="§"/>
            </a:pPr>
            <a:r>
              <a:rPr lang="en-US" dirty="0"/>
              <a:t>Standard regression often ignores outliers or minority classes.</a:t>
            </a:r>
          </a:p>
          <a:p>
            <a:pPr marL="742950" lvl="1" indent="-285750">
              <a:buFont typeface="Wingdings" panose="05000000000000000000" pitchFamily="2" charset="2"/>
              <a:buChar char="§"/>
            </a:pPr>
            <a:r>
              <a:rPr lang="en-US" dirty="0"/>
              <a:t>We implemented a </a:t>
            </a:r>
            <a:r>
              <a:rPr lang="en-US" b="1" dirty="0"/>
              <a:t>Weighted Least Squares</a:t>
            </a:r>
            <a:r>
              <a:rPr lang="en-US" dirty="0"/>
              <a:t> approach, assigning weights up to </a:t>
            </a:r>
            <a:r>
              <a:rPr lang="en-US" b="1" dirty="0"/>
              <a:t>3000</a:t>
            </a:r>
            <a:r>
              <a:rPr lang="en-US" dirty="0"/>
              <a:t> for "Poor" air quality days to ensure the model prioritizes accuracy during high-pollution events.</a:t>
            </a:r>
          </a:p>
          <a:p>
            <a:pPr marL="285750" indent="-285750">
              <a:buFont typeface="Wingdings" panose="05000000000000000000" pitchFamily="2" charset="2"/>
              <a:buChar char="q"/>
            </a:pPr>
            <a:r>
              <a:rPr lang="en-US" b="1" dirty="0"/>
              <a:t>Regression-to-Classification Pipeline</a:t>
            </a:r>
            <a:r>
              <a:rPr lang="en-US" dirty="0"/>
              <a:t>:</a:t>
            </a:r>
          </a:p>
          <a:p>
            <a:pPr marL="742950" lvl="1" indent="-285750">
              <a:buFont typeface="Wingdings" panose="05000000000000000000" pitchFamily="2" charset="2"/>
              <a:buChar char="§"/>
            </a:pPr>
            <a:r>
              <a:rPr lang="en-US" dirty="0"/>
              <a:t>The model first predicts a precise numerical AQI.</a:t>
            </a:r>
          </a:p>
          <a:p>
            <a:pPr marL="742950" lvl="1" indent="-285750">
              <a:buFont typeface="Wingdings" panose="05000000000000000000" pitchFamily="2" charset="2"/>
              <a:buChar char="§"/>
            </a:pPr>
            <a:r>
              <a:rPr lang="en-US" dirty="0"/>
              <a:t>This value is then "bucketed" into categories (Good, Satisfactory, Moderate, Poor) based on CPCB (Central Pollution Control Board) regulatory thresholds.</a:t>
            </a:r>
          </a:p>
          <a:p>
            <a:pPr marL="285750" indent="-285750">
              <a:buFont typeface="Wingdings" panose="05000000000000000000" pitchFamily="2" charset="2"/>
              <a:buChar char="q"/>
            </a:pPr>
            <a:r>
              <a:rPr lang="en-US" b="1" dirty="0"/>
              <a:t>Why it works</a:t>
            </a:r>
            <a:r>
              <a:rPr lang="en-US" dirty="0"/>
              <a:t>:</a:t>
            </a:r>
          </a:p>
          <a:p>
            <a:pPr lvl="1"/>
            <a:r>
              <a:rPr lang="en-US" dirty="0"/>
              <a:t> It captures the subtle gradients in pollution levels before forcing them into rigid categories.</a:t>
            </a:r>
          </a:p>
        </p:txBody>
      </p:sp>
    </p:spTree>
    <p:extLst>
      <p:ext uri="{BB962C8B-B14F-4D97-AF65-F5344CB8AC3E}">
        <p14:creationId xmlns:p14="http://schemas.microsoft.com/office/powerpoint/2010/main" val="2294959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2CC46-5125-8AED-A156-38AA2460F1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4D8671-BD09-7C57-FA5F-A22CB208DFD3}"/>
              </a:ext>
            </a:extLst>
          </p:cNvPr>
          <p:cNvSpPr txBox="1"/>
          <p:nvPr/>
        </p:nvSpPr>
        <p:spPr>
          <a:xfrm>
            <a:off x="522923" y="958334"/>
            <a:ext cx="6097904" cy="461665"/>
          </a:xfrm>
          <a:prstGeom prst="rect">
            <a:avLst/>
          </a:prstGeom>
          <a:noFill/>
        </p:spPr>
        <p:txBody>
          <a:bodyPr wrap="square">
            <a:spAutoFit/>
          </a:bodyPr>
          <a:lstStyle/>
          <a:p>
            <a:r>
              <a:rPr lang="en-US" sz="2400" b="1" dirty="0"/>
              <a:t>Section 4: Methodology</a:t>
            </a:r>
            <a:endParaRPr lang="en-IN" sz="2400" b="1" dirty="0"/>
          </a:p>
        </p:txBody>
      </p:sp>
      <p:sp>
        <p:nvSpPr>
          <p:cNvPr id="10" name="Slide Number Placeholder 9">
            <a:extLst>
              <a:ext uri="{FF2B5EF4-FFF2-40B4-BE49-F238E27FC236}">
                <a16:creationId xmlns:a16="http://schemas.microsoft.com/office/drawing/2014/main" id="{2D91E018-26E0-8D2D-3BB1-297E875EAFE2}"/>
              </a:ext>
            </a:extLst>
          </p:cNvPr>
          <p:cNvSpPr>
            <a:spLocks noGrp="1"/>
          </p:cNvSpPr>
          <p:nvPr>
            <p:ph type="sldNum" sz="quarter" idx="12"/>
          </p:nvPr>
        </p:nvSpPr>
        <p:spPr/>
        <p:txBody>
          <a:bodyPr/>
          <a:lstStyle/>
          <a:p>
            <a:fld id="{0675BFE1-678E-4020-ACD1-5206801575C1}" type="slidenum">
              <a:rPr lang="en-IN" smtClean="0"/>
              <a:t>9</a:t>
            </a:fld>
            <a:endParaRPr lang="en-IN"/>
          </a:p>
        </p:txBody>
      </p:sp>
      <p:sp>
        <p:nvSpPr>
          <p:cNvPr id="2" name="TextBox 1">
            <a:extLst>
              <a:ext uri="{FF2B5EF4-FFF2-40B4-BE49-F238E27FC236}">
                <a16:creationId xmlns:a16="http://schemas.microsoft.com/office/drawing/2014/main" id="{2A06DFAE-DB39-1646-A96B-E1542F73A24C}"/>
              </a:ext>
            </a:extLst>
          </p:cNvPr>
          <p:cNvSpPr txBox="1"/>
          <p:nvPr/>
        </p:nvSpPr>
        <p:spPr>
          <a:xfrm>
            <a:off x="1755606" y="1419999"/>
            <a:ext cx="8512343" cy="5201424"/>
          </a:xfrm>
          <a:prstGeom prst="rect">
            <a:avLst/>
          </a:prstGeom>
          <a:noFill/>
        </p:spPr>
        <p:txBody>
          <a:bodyPr wrap="square">
            <a:spAutoFit/>
          </a:bodyPr>
          <a:lstStyle/>
          <a:p>
            <a:pPr>
              <a:buNone/>
            </a:pPr>
            <a:r>
              <a:rPr lang="en-US" sz="2800" b="1" dirty="0"/>
              <a:t>Model 2 – Random Forest (RF)</a:t>
            </a:r>
          </a:p>
          <a:p>
            <a:pPr>
              <a:buNone/>
            </a:pPr>
            <a:endParaRPr lang="en-US" sz="1600" b="1" dirty="0"/>
          </a:p>
          <a:p>
            <a:pPr marL="285750" indent="-285750">
              <a:buFont typeface="Wingdings" panose="05000000000000000000" pitchFamily="2" charset="2"/>
              <a:buChar char="q"/>
            </a:pPr>
            <a:r>
              <a:rPr lang="en-US" b="1" dirty="0"/>
              <a:t>Ensemble Power</a:t>
            </a:r>
            <a:r>
              <a:rPr lang="en-US" dirty="0"/>
              <a:t>: </a:t>
            </a:r>
          </a:p>
          <a:p>
            <a:pPr lvl="1"/>
            <a:r>
              <a:rPr lang="en-US" dirty="0"/>
              <a:t>Random Forest functions as a "wisdom of the crowd" algorithm, building multiple independent decision trees and combining their results through </a:t>
            </a:r>
            <a:r>
              <a:rPr lang="en-US" b="1" dirty="0"/>
              <a:t>majority voting</a:t>
            </a:r>
            <a:r>
              <a:rPr lang="en-US" dirty="0"/>
              <a:t>.</a:t>
            </a:r>
          </a:p>
          <a:p>
            <a:pPr lvl="1"/>
            <a:endParaRPr lang="en-US" dirty="0"/>
          </a:p>
          <a:p>
            <a:pPr marL="285750" indent="-285750">
              <a:buFont typeface="Wingdings" panose="05000000000000000000" pitchFamily="2" charset="2"/>
              <a:buChar char="q"/>
            </a:pPr>
            <a:r>
              <a:rPr lang="en-US" b="1" dirty="0"/>
              <a:t>Feature Prioritization</a:t>
            </a:r>
            <a:r>
              <a:rPr lang="en-US" dirty="0"/>
              <a:t>:</a:t>
            </a:r>
          </a:p>
          <a:p>
            <a:pPr marL="742950" lvl="1" indent="-285750">
              <a:buFont typeface="Wingdings" panose="05000000000000000000" pitchFamily="2" charset="2"/>
              <a:buChar char="§"/>
            </a:pPr>
            <a:r>
              <a:rPr lang="en-US" dirty="0"/>
              <a:t>The model identified </a:t>
            </a:r>
            <a:r>
              <a:rPr lang="en-US" b="1" dirty="0"/>
              <a:t>PM2.5 and PM10</a:t>
            </a:r>
            <a:r>
              <a:rPr lang="en-US" dirty="0"/>
              <a:t> as the most significant predictors of AQI.</a:t>
            </a:r>
          </a:p>
          <a:p>
            <a:pPr marL="742950" lvl="1" indent="-285750">
              <a:buFont typeface="Wingdings" panose="05000000000000000000" pitchFamily="2" charset="2"/>
              <a:buChar char="§"/>
            </a:pPr>
            <a:r>
              <a:rPr lang="en-US" dirty="0"/>
              <a:t>By focusing on these "heavy hitters," the model reduces noise and improves classification speed.</a:t>
            </a:r>
          </a:p>
          <a:p>
            <a:pPr marL="742950" lvl="1" indent="-285750">
              <a:buFont typeface="Wingdings" panose="05000000000000000000" pitchFamily="2" charset="2"/>
              <a:buChar char="§"/>
            </a:pPr>
            <a:endParaRPr lang="en-US" dirty="0"/>
          </a:p>
          <a:p>
            <a:pPr marL="285750" indent="-285750">
              <a:buFont typeface="Wingdings" panose="05000000000000000000" pitchFamily="2" charset="2"/>
              <a:buChar char="q"/>
            </a:pPr>
            <a:r>
              <a:rPr lang="en-US" b="1" dirty="0"/>
              <a:t>Hyperparameter Tuning</a:t>
            </a:r>
            <a:r>
              <a:rPr lang="en-US" dirty="0"/>
              <a:t>:</a:t>
            </a:r>
          </a:p>
          <a:p>
            <a:pPr lvl="1"/>
            <a:r>
              <a:rPr lang="en-US" dirty="0"/>
              <a:t>We used </a:t>
            </a:r>
            <a:r>
              <a:rPr lang="en-US" b="1" dirty="0"/>
              <a:t>Accuracy vs. Number of Trees</a:t>
            </a:r>
            <a:r>
              <a:rPr lang="en-US" dirty="0"/>
              <a:t> plots to find the "sweet spot" where the model is most accurate without becoming slow or overfitted.</a:t>
            </a:r>
          </a:p>
          <a:p>
            <a:pPr lvl="1"/>
            <a:endParaRPr lang="en-US" dirty="0"/>
          </a:p>
          <a:p>
            <a:pPr marL="285750" indent="-285750">
              <a:buFont typeface="Wingdings" panose="05000000000000000000" pitchFamily="2" charset="2"/>
              <a:buChar char="q"/>
            </a:pPr>
            <a:r>
              <a:rPr lang="en-US" b="1" dirty="0"/>
              <a:t>Robustness</a:t>
            </a:r>
            <a:r>
              <a:rPr lang="en-US" dirty="0"/>
              <a:t>: </a:t>
            </a:r>
          </a:p>
          <a:p>
            <a:pPr lvl="1"/>
            <a:r>
              <a:rPr lang="en-US" dirty="0"/>
              <a:t>This ensemble approach is naturally resistant to outliers and handles the non-linear seasonal fluctuations of air quality more effectively than single-tree models.</a:t>
            </a:r>
          </a:p>
        </p:txBody>
      </p:sp>
    </p:spTree>
    <p:extLst>
      <p:ext uri="{BB962C8B-B14F-4D97-AF65-F5344CB8AC3E}">
        <p14:creationId xmlns:p14="http://schemas.microsoft.com/office/powerpoint/2010/main" val="2691166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824E-F76D-D628-51BA-09338685E206}"/>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8D52BAA-CD1B-6307-6B3E-B41D191D7315}"/>
              </a:ext>
            </a:extLst>
          </p:cNvPr>
          <p:cNvSpPr txBox="1"/>
          <p:nvPr/>
        </p:nvSpPr>
        <p:spPr>
          <a:xfrm>
            <a:off x="1755606" y="1405285"/>
            <a:ext cx="8512343" cy="4955203"/>
          </a:xfrm>
          <a:prstGeom prst="rect">
            <a:avLst/>
          </a:prstGeom>
          <a:noFill/>
        </p:spPr>
        <p:txBody>
          <a:bodyPr wrap="square">
            <a:spAutoFit/>
          </a:bodyPr>
          <a:lstStyle/>
          <a:p>
            <a:pPr>
              <a:buNone/>
            </a:pPr>
            <a:r>
              <a:rPr lang="en-US" sz="2800" b="1" dirty="0"/>
              <a:t>Model 3 – Support Vector Machine (SVM)</a:t>
            </a:r>
          </a:p>
          <a:p>
            <a:pPr marL="285750" indent="-285750">
              <a:buFont typeface="Wingdings" panose="05000000000000000000" pitchFamily="2" charset="2"/>
              <a:buChar char="q"/>
            </a:pPr>
            <a:r>
              <a:rPr lang="en-US" b="1" dirty="0"/>
              <a:t>RBF Kernel Integration</a:t>
            </a:r>
            <a:r>
              <a:rPr lang="en-US" dirty="0"/>
              <a:t>: </a:t>
            </a:r>
          </a:p>
          <a:p>
            <a:pPr lvl="1"/>
            <a:r>
              <a:rPr lang="en-US" dirty="0"/>
              <a:t>We used the </a:t>
            </a:r>
            <a:r>
              <a:rPr lang="en-US" b="1" dirty="0"/>
              <a:t>Radial Basis Function (RBF)</a:t>
            </a:r>
            <a:r>
              <a:rPr lang="en-US" dirty="0"/>
              <a:t> kernel, which allows the model to create complex, non-linear boundaries to separate air quality classes that aren't easily split by a straight line.</a:t>
            </a:r>
          </a:p>
          <a:p>
            <a:pPr marL="285750" indent="-285750">
              <a:buFont typeface="Wingdings" panose="05000000000000000000" pitchFamily="2" charset="2"/>
              <a:buChar char="q"/>
            </a:pPr>
            <a:r>
              <a:rPr lang="en-US" b="1" dirty="0"/>
              <a:t>Data Strategy (Class Merging)</a:t>
            </a:r>
            <a:r>
              <a:rPr lang="en-US" dirty="0"/>
              <a:t>:</a:t>
            </a:r>
          </a:p>
          <a:p>
            <a:pPr marL="742950" lvl="1" indent="-285750">
              <a:buFont typeface="Wingdings" panose="05000000000000000000" pitchFamily="2" charset="2"/>
              <a:buChar char="§"/>
            </a:pPr>
            <a:r>
              <a:rPr lang="en-US" dirty="0"/>
              <a:t>The "Poor" category was underrepresented with only 10 instances.</a:t>
            </a:r>
          </a:p>
          <a:p>
            <a:pPr marL="742950" lvl="1" indent="-285750">
              <a:buFont typeface="Wingdings" panose="05000000000000000000" pitchFamily="2" charset="2"/>
              <a:buChar char="§"/>
            </a:pPr>
            <a:r>
              <a:rPr lang="en-US" dirty="0"/>
              <a:t>To prevent the model from ignoring this critical class, we merged it into the "Moderate" category to create a more balanced and trainable dataset.</a:t>
            </a:r>
          </a:p>
          <a:p>
            <a:pPr marL="285750" indent="-285750">
              <a:buFont typeface="Wingdings" panose="05000000000000000000" pitchFamily="2" charset="2"/>
              <a:buChar char="q"/>
            </a:pPr>
            <a:r>
              <a:rPr lang="en-US" b="1" dirty="0"/>
              <a:t>Dimensionality Reduction (PCA)</a:t>
            </a:r>
            <a:r>
              <a:rPr lang="en-US" dirty="0"/>
              <a:t>:</a:t>
            </a:r>
          </a:p>
          <a:p>
            <a:pPr marL="742950" lvl="1" indent="-285750">
              <a:buFont typeface="Wingdings" panose="05000000000000000000" pitchFamily="2" charset="2"/>
              <a:buChar char="§"/>
            </a:pPr>
            <a:r>
              <a:rPr lang="en-US" dirty="0"/>
              <a:t>Since our data has 8 features, it is impossible to visualize in 3D.</a:t>
            </a:r>
          </a:p>
          <a:p>
            <a:pPr marL="742950" lvl="1" indent="-285750">
              <a:buFont typeface="Wingdings" panose="05000000000000000000" pitchFamily="2" charset="2"/>
              <a:buChar char="§"/>
            </a:pPr>
            <a:r>
              <a:rPr lang="en-US" dirty="0"/>
              <a:t>We used </a:t>
            </a:r>
            <a:r>
              <a:rPr lang="en-US" b="1" dirty="0"/>
              <a:t>Principal Component Analysis (PCA)</a:t>
            </a:r>
            <a:r>
              <a:rPr lang="en-US" dirty="0"/>
              <a:t> to compress the data into two dimensions, allowing us to plot and verify the model’s decision boundaries visually.</a:t>
            </a:r>
          </a:p>
          <a:p>
            <a:pPr marL="285750" indent="-285750">
              <a:buFont typeface="Wingdings" panose="05000000000000000000" pitchFamily="2" charset="2"/>
              <a:buChar char="q"/>
            </a:pPr>
            <a:r>
              <a:rPr lang="en-US" b="1" dirty="0"/>
              <a:t>Evaluation</a:t>
            </a:r>
            <a:r>
              <a:rPr lang="en-US" dirty="0"/>
              <a:t>: </a:t>
            </a:r>
          </a:p>
          <a:p>
            <a:pPr lvl="1"/>
            <a:r>
              <a:rPr lang="en-US" dirty="0"/>
              <a:t>Focused on the </a:t>
            </a:r>
            <a:r>
              <a:rPr lang="en-US" b="1" dirty="0"/>
              <a:t>Macro F1-score</a:t>
            </a:r>
            <a:r>
              <a:rPr lang="en-US" dirty="0"/>
              <a:t> to ensure the model performed well across all categories, not just the most common ones.</a:t>
            </a:r>
          </a:p>
        </p:txBody>
      </p:sp>
      <p:sp>
        <p:nvSpPr>
          <p:cNvPr id="4" name="TextBox 3">
            <a:extLst>
              <a:ext uri="{FF2B5EF4-FFF2-40B4-BE49-F238E27FC236}">
                <a16:creationId xmlns:a16="http://schemas.microsoft.com/office/drawing/2014/main" id="{DC133211-5A68-210D-95C2-6E69F713C131}"/>
              </a:ext>
            </a:extLst>
          </p:cNvPr>
          <p:cNvSpPr txBox="1"/>
          <p:nvPr/>
        </p:nvSpPr>
        <p:spPr>
          <a:xfrm>
            <a:off x="522923" y="958334"/>
            <a:ext cx="6097904" cy="461665"/>
          </a:xfrm>
          <a:prstGeom prst="rect">
            <a:avLst/>
          </a:prstGeom>
          <a:noFill/>
        </p:spPr>
        <p:txBody>
          <a:bodyPr wrap="square">
            <a:spAutoFit/>
          </a:bodyPr>
          <a:lstStyle/>
          <a:p>
            <a:r>
              <a:rPr lang="en-US" sz="2400" b="1" dirty="0"/>
              <a:t>Section 4: Methodology</a:t>
            </a:r>
            <a:endParaRPr lang="en-IN" sz="2400" b="1" dirty="0"/>
          </a:p>
        </p:txBody>
      </p:sp>
      <p:sp>
        <p:nvSpPr>
          <p:cNvPr id="10" name="Slide Number Placeholder 9">
            <a:extLst>
              <a:ext uri="{FF2B5EF4-FFF2-40B4-BE49-F238E27FC236}">
                <a16:creationId xmlns:a16="http://schemas.microsoft.com/office/drawing/2014/main" id="{8681D925-5274-CFF6-6C50-D30CFD1F8390}"/>
              </a:ext>
            </a:extLst>
          </p:cNvPr>
          <p:cNvSpPr>
            <a:spLocks noGrp="1"/>
          </p:cNvSpPr>
          <p:nvPr>
            <p:ph type="sldNum" sz="quarter" idx="12"/>
          </p:nvPr>
        </p:nvSpPr>
        <p:spPr/>
        <p:txBody>
          <a:bodyPr/>
          <a:lstStyle/>
          <a:p>
            <a:fld id="{0675BFE1-678E-4020-ACD1-5206801575C1}" type="slidenum">
              <a:rPr lang="en-IN" smtClean="0"/>
              <a:t>10</a:t>
            </a:fld>
            <a:endParaRPr lang="en-IN"/>
          </a:p>
        </p:txBody>
      </p:sp>
    </p:spTree>
    <p:extLst>
      <p:ext uri="{BB962C8B-B14F-4D97-AF65-F5344CB8AC3E}">
        <p14:creationId xmlns:p14="http://schemas.microsoft.com/office/powerpoint/2010/main" val="3626862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B1C486-6462-3837-B604-207D779BB619}"/>
              </a:ext>
            </a:extLst>
          </p:cNvPr>
          <p:cNvSpPr>
            <a:spLocks noGrp="1"/>
          </p:cNvSpPr>
          <p:nvPr>
            <p:ph type="sldNum" sz="quarter" idx="12"/>
          </p:nvPr>
        </p:nvSpPr>
        <p:spPr/>
        <p:txBody>
          <a:bodyPr/>
          <a:lstStyle/>
          <a:p>
            <a:fld id="{0675BFE1-678E-4020-ACD1-5206801575C1}" type="slidenum">
              <a:rPr lang="en-IN" smtClean="0"/>
              <a:t>11</a:t>
            </a:fld>
            <a:endParaRPr lang="en-IN"/>
          </a:p>
        </p:txBody>
      </p:sp>
      <p:pic>
        <p:nvPicPr>
          <p:cNvPr id="6" name="Picture 5">
            <a:extLst>
              <a:ext uri="{FF2B5EF4-FFF2-40B4-BE49-F238E27FC236}">
                <a16:creationId xmlns:a16="http://schemas.microsoft.com/office/drawing/2014/main" id="{2C5FB150-4661-AF1F-AC97-B3ED14FAC375}"/>
              </a:ext>
            </a:extLst>
          </p:cNvPr>
          <p:cNvPicPr>
            <a:picLocks noChangeAspect="1"/>
          </p:cNvPicPr>
          <p:nvPr/>
        </p:nvPicPr>
        <p:blipFill>
          <a:blip r:embed="rId2"/>
          <a:stretch>
            <a:fillRect/>
          </a:stretch>
        </p:blipFill>
        <p:spPr>
          <a:xfrm>
            <a:off x="3029542" y="1360262"/>
            <a:ext cx="3026305" cy="2245009"/>
          </a:xfrm>
          <a:prstGeom prst="rect">
            <a:avLst/>
          </a:prstGeom>
          <a:ln>
            <a:solidFill>
              <a:srgbClr val="FFFF00"/>
            </a:solidFill>
          </a:ln>
        </p:spPr>
      </p:pic>
      <p:pic>
        <p:nvPicPr>
          <p:cNvPr id="8" name="Picture 7">
            <a:extLst>
              <a:ext uri="{FF2B5EF4-FFF2-40B4-BE49-F238E27FC236}">
                <a16:creationId xmlns:a16="http://schemas.microsoft.com/office/drawing/2014/main" id="{3101D4A7-B3B6-BDEC-641A-3EBCF6278A2C}"/>
              </a:ext>
            </a:extLst>
          </p:cNvPr>
          <p:cNvPicPr>
            <a:picLocks noChangeAspect="1"/>
          </p:cNvPicPr>
          <p:nvPr/>
        </p:nvPicPr>
        <p:blipFill>
          <a:blip r:embed="rId3"/>
          <a:stretch>
            <a:fillRect/>
          </a:stretch>
        </p:blipFill>
        <p:spPr>
          <a:xfrm>
            <a:off x="8362796" y="1033849"/>
            <a:ext cx="3286226" cy="2226760"/>
          </a:xfrm>
          <a:prstGeom prst="rect">
            <a:avLst/>
          </a:prstGeom>
          <a:ln>
            <a:solidFill>
              <a:srgbClr val="FFFF00"/>
            </a:solidFill>
          </a:ln>
        </p:spPr>
      </p:pic>
      <p:pic>
        <p:nvPicPr>
          <p:cNvPr id="10" name="Picture 9">
            <a:extLst>
              <a:ext uri="{FF2B5EF4-FFF2-40B4-BE49-F238E27FC236}">
                <a16:creationId xmlns:a16="http://schemas.microsoft.com/office/drawing/2014/main" id="{47338CBF-2F86-7793-16D1-751E390393A4}"/>
              </a:ext>
            </a:extLst>
          </p:cNvPr>
          <p:cNvPicPr>
            <a:picLocks noChangeAspect="1"/>
          </p:cNvPicPr>
          <p:nvPr/>
        </p:nvPicPr>
        <p:blipFill>
          <a:blip r:embed="rId4"/>
          <a:stretch>
            <a:fillRect/>
          </a:stretch>
        </p:blipFill>
        <p:spPr>
          <a:xfrm>
            <a:off x="6096000" y="1033849"/>
            <a:ext cx="2226644" cy="2245009"/>
          </a:xfrm>
          <a:prstGeom prst="rect">
            <a:avLst/>
          </a:prstGeom>
          <a:ln>
            <a:solidFill>
              <a:srgbClr val="FFFF00"/>
            </a:solidFill>
          </a:ln>
        </p:spPr>
      </p:pic>
      <p:pic>
        <p:nvPicPr>
          <p:cNvPr id="12" name="Picture 11">
            <a:extLst>
              <a:ext uri="{FF2B5EF4-FFF2-40B4-BE49-F238E27FC236}">
                <a16:creationId xmlns:a16="http://schemas.microsoft.com/office/drawing/2014/main" id="{D2E5BF45-467E-C3BC-1FA1-315D03DD3D92}"/>
              </a:ext>
            </a:extLst>
          </p:cNvPr>
          <p:cNvPicPr>
            <a:picLocks noChangeAspect="1"/>
          </p:cNvPicPr>
          <p:nvPr/>
        </p:nvPicPr>
        <p:blipFill>
          <a:blip r:embed="rId5"/>
          <a:stretch>
            <a:fillRect/>
          </a:stretch>
        </p:blipFill>
        <p:spPr>
          <a:xfrm>
            <a:off x="542978" y="3605271"/>
            <a:ext cx="3713700" cy="2956927"/>
          </a:xfrm>
          <a:prstGeom prst="rect">
            <a:avLst/>
          </a:prstGeom>
          <a:ln>
            <a:solidFill>
              <a:srgbClr val="FF0000"/>
            </a:solidFill>
          </a:ln>
        </p:spPr>
      </p:pic>
      <p:pic>
        <p:nvPicPr>
          <p:cNvPr id="16" name="Picture 15">
            <a:extLst>
              <a:ext uri="{FF2B5EF4-FFF2-40B4-BE49-F238E27FC236}">
                <a16:creationId xmlns:a16="http://schemas.microsoft.com/office/drawing/2014/main" id="{2B25D3BA-2D99-107F-F4CB-ADDB4DC6093D}"/>
              </a:ext>
            </a:extLst>
          </p:cNvPr>
          <p:cNvPicPr>
            <a:picLocks noChangeAspect="1"/>
          </p:cNvPicPr>
          <p:nvPr/>
        </p:nvPicPr>
        <p:blipFill>
          <a:blip r:embed="rId6"/>
          <a:stretch>
            <a:fillRect/>
          </a:stretch>
        </p:blipFill>
        <p:spPr>
          <a:xfrm>
            <a:off x="4275539" y="3657260"/>
            <a:ext cx="3026305" cy="2012973"/>
          </a:xfrm>
          <a:prstGeom prst="rect">
            <a:avLst/>
          </a:prstGeom>
          <a:ln>
            <a:solidFill>
              <a:srgbClr val="FF0000"/>
            </a:solidFill>
          </a:ln>
        </p:spPr>
      </p:pic>
      <p:pic>
        <p:nvPicPr>
          <p:cNvPr id="14" name="Picture 13">
            <a:extLst>
              <a:ext uri="{FF2B5EF4-FFF2-40B4-BE49-F238E27FC236}">
                <a16:creationId xmlns:a16="http://schemas.microsoft.com/office/drawing/2014/main" id="{5EB6F55E-49E8-B211-08AC-C0C80C35FDB0}"/>
              </a:ext>
            </a:extLst>
          </p:cNvPr>
          <p:cNvPicPr>
            <a:picLocks noChangeAspect="1"/>
          </p:cNvPicPr>
          <p:nvPr/>
        </p:nvPicPr>
        <p:blipFill>
          <a:blip r:embed="rId7"/>
          <a:stretch>
            <a:fillRect/>
          </a:stretch>
        </p:blipFill>
        <p:spPr>
          <a:xfrm>
            <a:off x="542978" y="1360262"/>
            <a:ext cx="2446411" cy="2227472"/>
          </a:xfrm>
          <a:prstGeom prst="rect">
            <a:avLst/>
          </a:prstGeom>
          <a:ln>
            <a:solidFill>
              <a:srgbClr val="FF0000"/>
            </a:solidFill>
          </a:ln>
        </p:spPr>
      </p:pic>
      <p:sp>
        <p:nvSpPr>
          <p:cNvPr id="17" name="TextBox 16">
            <a:extLst>
              <a:ext uri="{FF2B5EF4-FFF2-40B4-BE49-F238E27FC236}">
                <a16:creationId xmlns:a16="http://schemas.microsoft.com/office/drawing/2014/main" id="{B3E29FE3-EDF6-0165-1A15-7D6C69A9B586}"/>
              </a:ext>
            </a:extLst>
          </p:cNvPr>
          <p:cNvSpPr txBox="1"/>
          <p:nvPr/>
        </p:nvSpPr>
        <p:spPr>
          <a:xfrm>
            <a:off x="4313640" y="5697945"/>
            <a:ext cx="3331760" cy="830997"/>
          </a:xfrm>
          <a:prstGeom prst="rect">
            <a:avLst/>
          </a:prstGeom>
          <a:solidFill>
            <a:schemeClr val="tx1"/>
          </a:solidFill>
        </p:spPr>
        <p:txBody>
          <a:bodyPr wrap="square" rtlCol="0">
            <a:spAutoFit/>
          </a:bodyPr>
          <a:lstStyle/>
          <a:p>
            <a:pPr algn="ctr"/>
            <a:r>
              <a:rPr lang="en-US" sz="1600" b="1" dirty="0">
                <a:solidFill>
                  <a:srgbClr val="FFFF00"/>
                </a:solidFill>
                <a:highlight>
                  <a:srgbClr val="000000"/>
                </a:highlight>
              </a:rPr>
              <a:t>Multiple Linear Regression</a:t>
            </a:r>
          </a:p>
          <a:p>
            <a:pPr algn="ctr"/>
            <a:r>
              <a:rPr lang="en-US" sz="1600" b="1" dirty="0">
                <a:solidFill>
                  <a:srgbClr val="FF0000"/>
                </a:solidFill>
                <a:highlight>
                  <a:srgbClr val="000000"/>
                </a:highlight>
              </a:rPr>
              <a:t>Random Forest                   </a:t>
            </a:r>
            <a:r>
              <a:rPr lang="en-US" sz="1600" b="1" dirty="0">
                <a:highlight>
                  <a:srgbClr val="000000"/>
                </a:highlight>
              </a:rPr>
              <a:t>.</a:t>
            </a:r>
          </a:p>
          <a:p>
            <a:pPr algn="ctr"/>
            <a:r>
              <a:rPr lang="en-US" sz="1600" b="1" dirty="0">
                <a:solidFill>
                  <a:srgbClr val="00B050"/>
                </a:solidFill>
                <a:highlight>
                  <a:srgbClr val="000000"/>
                </a:highlight>
              </a:rPr>
              <a:t>Support Vector Machines </a:t>
            </a:r>
            <a:r>
              <a:rPr lang="en-US" sz="1600" b="1" dirty="0">
                <a:highlight>
                  <a:srgbClr val="000000"/>
                </a:highlight>
              </a:rPr>
              <a:t>. </a:t>
            </a:r>
            <a:endParaRPr lang="en-IN" sz="1600" b="1" dirty="0">
              <a:highlight>
                <a:srgbClr val="000000"/>
              </a:highlight>
            </a:endParaRPr>
          </a:p>
        </p:txBody>
      </p:sp>
      <p:pic>
        <p:nvPicPr>
          <p:cNvPr id="19" name="Picture 18">
            <a:extLst>
              <a:ext uri="{FF2B5EF4-FFF2-40B4-BE49-F238E27FC236}">
                <a16:creationId xmlns:a16="http://schemas.microsoft.com/office/drawing/2014/main" id="{6E034462-F8B6-CDA3-B095-F8A534F51CE7}"/>
              </a:ext>
            </a:extLst>
          </p:cNvPr>
          <p:cNvPicPr>
            <a:picLocks noChangeAspect="1"/>
          </p:cNvPicPr>
          <p:nvPr/>
        </p:nvPicPr>
        <p:blipFill>
          <a:blip r:embed="rId8"/>
          <a:stretch>
            <a:fillRect/>
          </a:stretch>
        </p:blipFill>
        <p:spPr>
          <a:xfrm>
            <a:off x="7750858" y="3844308"/>
            <a:ext cx="3776884" cy="2628866"/>
          </a:xfrm>
          <a:prstGeom prst="rect">
            <a:avLst/>
          </a:prstGeom>
          <a:ln>
            <a:solidFill>
              <a:srgbClr val="00B050"/>
            </a:solidFill>
          </a:ln>
        </p:spPr>
      </p:pic>
      <p:sp>
        <p:nvSpPr>
          <p:cNvPr id="21" name="TextBox 20">
            <a:extLst>
              <a:ext uri="{FF2B5EF4-FFF2-40B4-BE49-F238E27FC236}">
                <a16:creationId xmlns:a16="http://schemas.microsoft.com/office/drawing/2014/main" id="{C09667B5-D1B5-443F-CDB1-73D340252580}"/>
              </a:ext>
            </a:extLst>
          </p:cNvPr>
          <p:cNvSpPr txBox="1"/>
          <p:nvPr/>
        </p:nvSpPr>
        <p:spPr>
          <a:xfrm>
            <a:off x="542978" y="963218"/>
            <a:ext cx="6096000" cy="461665"/>
          </a:xfrm>
          <a:prstGeom prst="rect">
            <a:avLst/>
          </a:prstGeom>
          <a:noFill/>
        </p:spPr>
        <p:txBody>
          <a:bodyPr wrap="square">
            <a:spAutoFit/>
          </a:bodyPr>
          <a:lstStyle/>
          <a:p>
            <a:r>
              <a:rPr lang="en-US" sz="2400" b="1" dirty="0"/>
              <a:t>Section 4: Methodology</a:t>
            </a:r>
            <a:endParaRPr lang="en-IN" sz="2400" b="1" dirty="0"/>
          </a:p>
        </p:txBody>
      </p:sp>
    </p:spTree>
    <p:extLst>
      <p:ext uri="{BB962C8B-B14F-4D97-AF65-F5344CB8AC3E}">
        <p14:creationId xmlns:p14="http://schemas.microsoft.com/office/powerpoint/2010/main" val="2329408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B5833-9CBF-C231-5C90-CDCFB2B87492}"/>
              </a:ext>
            </a:extLst>
          </p:cNvPr>
          <p:cNvSpPr>
            <a:spLocks noGrp="1"/>
          </p:cNvSpPr>
          <p:nvPr>
            <p:ph idx="1"/>
          </p:nvPr>
        </p:nvSpPr>
        <p:spPr>
          <a:xfrm>
            <a:off x="1498600" y="2008921"/>
            <a:ext cx="9194800" cy="3171350"/>
          </a:xfrm>
        </p:spPr>
        <p:txBody>
          <a:bodyPr>
            <a:normAutofit fontScale="92500" lnSpcReduction="10000"/>
          </a:bodyPr>
          <a:lstStyle/>
          <a:p>
            <a:pPr marL="0" indent="0">
              <a:buNone/>
            </a:pPr>
            <a:r>
              <a:rPr lang="en-US" sz="2600" b="1" dirty="0"/>
              <a:t>Performance Results and Model Comparison</a:t>
            </a:r>
            <a:endParaRPr lang="en-US" sz="2600" dirty="0"/>
          </a:p>
          <a:p>
            <a:pPr>
              <a:buFont typeface="Wingdings" panose="05000000000000000000" pitchFamily="2" charset="2"/>
              <a:buChar char="§"/>
            </a:pPr>
            <a:r>
              <a:rPr lang="en-US" sz="1900" b="1" dirty="0"/>
              <a:t>High Accuracy Across Models:</a:t>
            </a:r>
            <a:r>
              <a:rPr lang="en-US" sz="1900" dirty="0"/>
              <a:t> All three models achieved accuracy levels greater than 98%, attributed to effective feature selection and a high-quality dataset with no missing values.</a:t>
            </a:r>
          </a:p>
          <a:p>
            <a:pPr>
              <a:buFont typeface="Wingdings" panose="05000000000000000000" pitchFamily="2" charset="2"/>
              <a:buChar char="§"/>
            </a:pPr>
            <a:r>
              <a:rPr lang="en-US" sz="1900" b="1" dirty="0"/>
              <a:t>Performance Metrics Table:</a:t>
            </a:r>
            <a:endParaRPr lang="en-US" sz="1900" dirty="0"/>
          </a:p>
          <a:p>
            <a:pPr lvl="1">
              <a:buFont typeface="Wingdings" panose="05000000000000000000" pitchFamily="2" charset="2"/>
              <a:buChar char="§"/>
            </a:pPr>
            <a:r>
              <a:rPr lang="en-US" sz="1900" b="1" dirty="0"/>
              <a:t>Multiple Linear Regression (MLR):</a:t>
            </a:r>
            <a:r>
              <a:rPr lang="en-US" sz="1900" dirty="0"/>
              <a:t> 99.3% Accuracy, 0.99 Macro F1, 0.99 Kappa.</a:t>
            </a:r>
          </a:p>
          <a:p>
            <a:pPr lvl="1">
              <a:buFont typeface="Wingdings" panose="05000000000000000000" pitchFamily="2" charset="2"/>
              <a:buChar char="§"/>
            </a:pPr>
            <a:r>
              <a:rPr lang="en-US" sz="1900" b="1" dirty="0"/>
              <a:t>Support Vector Machine (SVM):</a:t>
            </a:r>
            <a:r>
              <a:rPr lang="en-US" sz="1900" dirty="0"/>
              <a:t> 98.4% Accuracy, 0.98 Macro F1, 0.97 Kappa.</a:t>
            </a:r>
          </a:p>
          <a:p>
            <a:pPr lvl="1">
              <a:buFont typeface="Wingdings" panose="05000000000000000000" pitchFamily="2" charset="2"/>
              <a:buChar char="§"/>
            </a:pPr>
            <a:r>
              <a:rPr lang="en-US" sz="1900" b="1" dirty="0"/>
              <a:t>Random Forest (RF):</a:t>
            </a:r>
            <a:r>
              <a:rPr lang="en-US" sz="1900" dirty="0"/>
              <a:t> 98% Accuracy, 0.98 Macro F1, 0.97 Kappa.</a:t>
            </a:r>
          </a:p>
          <a:p>
            <a:pPr>
              <a:buFont typeface="Wingdings" panose="05000000000000000000" pitchFamily="2" charset="2"/>
              <a:buChar char="§"/>
            </a:pPr>
            <a:r>
              <a:rPr lang="en-US" sz="1900" b="1" dirty="0"/>
              <a:t>Analysis of MLR:</a:t>
            </a:r>
            <a:r>
              <a:rPr lang="en-US" sz="1900" dirty="0"/>
              <a:t> Although MLR showed the highest numerical accuracy, it uses an indirect approach (predicting raw AQI then mapping to categories), making it less suitable for direct classification compared to SVM and RF.</a:t>
            </a:r>
          </a:p>
        </p:txBody>
      </p:sp>
      <p:sp>
        <p:nvSpPr>
          <p:cNvPr id="4" name="TextBox 3">
            <a:extLst>
              <a:ext uri="{FF2B5EF4-FFF2-40B4-BE49-F238E27FC236}">
                <a16:creationId xmlns:a16="http://schemas.microsoft.com/office/drawing/2014/main" id="{643B0CD0-365F-C031-1D2D-3D5B630680F8}"/>
              </a:ext>
            </a:extLst>
          </p:cNvPr>
          <p:cNvSpPr txBox="1"/>
          <p:nvPr/>
        </p:nvSpPr>
        <p:spPr>
          <a:xfrm>
            <a:off x="522923" y="958334"/>
            <a:ext cx="6097904" cy="461665"/>
          </a:xfrm>
          <a:prstGeom prst="rect">
            <a:avLst/>
          </a:prstGeom>
          <a:noFill/>
        </p:spPr>
        <p:txBody>
          <a:bodyPr wrap="square">
            <a:spAutoFit/>
          </a:bodyPr>
          <a:lstStyle/>
          <a:p>
            <a:r>
              <a:rPr lang="en-US" sz="2400" b="1" dirty="0"/>
              <a:t>Section 5: Results, Analysis &amp; Conclusion</a:t>
            </a:r>
            <a:endParaRPr lang="en-IN" sz="2400" b="1" dirty="0"/>
          </a:p>
        </p:txBody>
      </p:sp>
      <p:sp>
        <p:nvSpPr>
          <p:cNvPr id="9" name="Slide Number Placeholder 8">
            <a:extLst>
              <a:ext uri="{FF2B5EF4-FFF2-40B4-BE49-F238E27FC236}">
                <a16:creationId xmlns:a16="http://schemas.microsoft.com/office/drawing/2014/main" id="{8424BE16-F35E-7AB1-DCF2-DDDB262F2E6D}"/>
              </a:ext>
            </a:extLst>
          </p:cNvPr>
          <p:cNvSpPr>
            <a:spLocks noGrp="1"/>
          </p:cNvSpPr>
          <p:nvPr>
            <p:ph type="sldNum" sz="quarter" idx="12"/>
          </p:nvPr>
        </p:nvSpPr>
        <p:spPr/>
        <p:txBody>
          <a:bodyPr/>
          <a:lstStyle/>
          <a:p>
            <a:fld id="{0675BFE1-678E-4020-ACD1-5206801575C1}" type="slidenum">
              <a:rPr lang="en-IN" smtClean="0"/>
              <a:t>12</a:t>
            </a:fld>
            <a:endParaRPr lang="en-IN"/>
          </a:p>
        </p:txBody>
      </p:sp>
    </p:spTree>
    <p:extLst>
      <p:ext uri="{BB962C8B-B14F-4D97-AF65-F5344CB8AC3E}">
        <p14:creationId xmlns:p14="http://schemas.microsoft.com/office/powerpoint/2010/main" val="259668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FC7CE-B7A3-6459-6FF6-D8A008DC10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1283A0-819C-9B36-CC4E-37C2CBDC18D2}"/>
              </a:ext>
            </a:extLst>
          </p:cNvPr>
          <p:cNvSpPr>
            <a:spLocks noGrp="1"/>
          </p:cNvSpPr>
          <p:nvPr>
            <p:ph idx="1"/>
          </p:nvPr>
        </p:nvSpPr>
        <p:spPr>
          <a:xfrm>
            <a:off x="1386363" y="1764228"/>
            <a:ext cx="9419273" cy="4351338"/>
          </a:xfrm>
        </p:spPr>
        <p:txBody>
          <a:bodyPr>
            <a:normAutofit/>
          </a:bodyPr>
          <a:lstStyle/>
          <a:p>
            <a:pPr marL="0" indent="0">
              <a:buNone/>
            </a:pPr>
            <a:r>
              <a:rPr lang="en-US" sz="2600" b="1" dirty="0"/>
              <a:t>Feature Ablation and Final Conclusion</a:t>
            </a:r>
            <a:endParaRPr lang="en-US" sz="2600" dirty="0"/>
          </a:p>
          <a:p>
            <a:pPr>
              <a:buFont typeface="Wingdings" panose="05000000000000000000" pitchFamily="2" charset="2"/>
              <a:buChar char="§"/>
            </a:pPr>
            <a:r>
              <a:rPr lang="en-US" sz="1800" b="1" dirty="0"/>
              <a:t>Feature Ablation Results:</a:t>
            </a:r>
            <a:r>
              <a:rPr lang="en-US" sz="1800" dirty="0"/>
              <a:t> When the primary drivers (PM2.5 and PM10) were removed, the SVM model showed only a slight drop in performance, demonstrating superior robustness and the influence of correlated features.</a:t>
            </a:r>
          </a:p>
          <a:p>
            <a:pPr>
              <a:buFont typeface="Wingdings" panose="05000000000000000000" pitchFamily="2" charset="2"/>
              <a:buChar char="§"/>
            </a:pPr>
            <a:r>
              <a:rPr lang="en-US" sz="1800" b="1" dirty="0"/>
              <a:t>Model Selection:</a:t>
            </a:r>
            <a:r>
              <a:rPr lang="en-US" sz="1800" dirty="0"/>
              <a:t> SVM was selected as the best overall model due to its consistent performance across all metrics, strong generalizing ability, and robust nature under feature ablation.</a:t>
            </a:r>
          </a:p>
          <a:p>
            <a:pPr>
              <a:buFont typeface="Wingdings" panose="05000000000000000000" pitchFamily="2" charset="2"/>
              <a:buChar char="§"/>
            </a:pPr>
            <a:r>
              <a:rPr lang="en-US" sz="1800" b="1" dirty="0"/>
              <a:t>Key Takeaway:</a:t>
            </a:r>
            <a:r>
              <a:rPr lang="en-US" sz="1800" dirty="0"/>
              <a:t> While regression-based approaches are suitable for lightweight tasks, direct classification models like SVM and RF provide more meaningful and stable results for critical environmental analysis.</a:t>
            </a:r>
          </a:p>
        </p:txBody>
      </p:sp>
      <p:sp>
        <p:nvSpPr>
          <p:cNvPr id="4" name="TextBox 3">
            <a:extLst>
              <a:ext uri="{FF2B5EF4-FFF2-40B4-BE49-F238E27FC236}">
                <a16:creationId xmlns:a16="http://schemas.microsoft.com/office/drawing/2014/main" id="{DF6F7894-1C3E-84B6-F448-248AD345A8A7}"/>
              </a:ext>
            </a:extLst>
          </p:cNvPr>
          <p:cNvSpPr txBox="1"/>
          <p:nvPr/>
        </p:nvSpPr>
        <p:spPr>
          <a:xfrm>
            <a:off x="522923" y="958334"/>
            <a:ext cx="6097904" cy="461665"/>
          </a:xfrm>
          <a:prstGeom prst="rect">
            <a:avLst/>
          </a:prstGeom>
          <a:noFill/>
        </p:spPr>
        <p:txBody>
          <a:bodyPr wrap="square">
            <a:spAutoFit/>
          </a:bodyPr>
          <a:lstStyle/>
          <a:p>
            <a:r>
              <a:rPr lang="en-US" sz="2400" b="1" dirty="0"/>
              <a:t>Section 5: Results, Analysis &amp; Conclusion</a:t>
            </a:r>
            <a:endParaRPr lang="en-IN" sz="2400" b="1" dirty="0"/>
          </a:p>
        </p:txBody>
      </p:sp>
      <p:sp>
        <p:nvSpPr>
          <p:cNvPr id="8" name="Slide Number Placeholder 7">
            <a:extLst>
              <a:ext uri="{FF2B5EF4-FFF2-40B4-BE49-F238E27FC236}">
                <a16:creationId xmlns:a16="http://schemas.microsoft.com/office/drawing/2014/main" id="{CF56831A-19C9-67F6-3A38-43A406862189}"/>
              </a:ext>
            </a:extLst>
          </p:cNvPr>
          <p:cNvSpPr>
            <a:spLocks noGrp="1"/>
          </p:cNvSpPr>
          <p:nvPr>
            <p:ph type="sldNum" sz="quarter" idx="12"/>
          </p:nvPr>
        </p:nvSpPr>
        <p:spPr/>
        <p:txBody>
          <a:bodyPr/>
          <a:lstStyle/>
          <a:p>
            <a:fld id="{0675BFE1-678E-4020-ACD1-5206801575C1}" type="slidenum">
              <a:rPr lang="en-IN" smtClean="0"/>
              <a:t>13</a:t>
            </a:fld>
            <a:endParaRPr lang="en-IN"/>
          </a:p>
        </p:txBody>
      </p:sp>
    </p:spTree>
    <p:extLst>
      <p:ext uri="{BB962C8B-B14F-4D97-AF65-F5344CB8AC3E}">
        <p14:creationId xmlns:p14="http://schemas.microsoft.com/office/powerpoint/2010/main" val="457120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FE4A14-1E0F-9884-CFB8-49C40DBC220A}"/>
              </a:ext>
            </a:extLst>
          </p:cNvPr>
          <p:cNvSpPr>
            <a:spLocks noGrp="1"/>
          </p:cNvSpPr>
          <p:nvPr>
            <p:ph type="sldNum" sz="quarter" idx="12"/>
          </p:nvPr>
        </p:nvSpPr>
        <p:spPr/>
        <p:txBody>
          <a:bodyPr/>
          <a:lstStyle/>
          <a:p>
            <a:fld id="{0675BFE1-678E-4020-ACD1-5206801575C1}" type="slidenum">
              <a:rPr lang="en-IN" smtClean="0"/>
              <a:t>14</a:t>
            </a:fld>
            <a:endParaRPr lang="en-IN"/>
          </a:p>
        </p:txBody>
      </p:sp>
      <p:pic>
        <p:nvPicPr>
          <p:cNvPr id="5122" name="Chart 1">
            <a:extLst>
              <a:ext uri="{FF2B5EF4-FFF2-40B4-BE49-F238E27FC236}">
                <a16:creationId xmlns:a16="http://schemas.microsoft.com/office/drawing/2014/main" id="{3BFFDA0B-F12C-16C5-3DE0-68D9B46AF0E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61" y="1428465"/>
            <a:ext cx="6450440" cy="510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1A3B2FE2-361C-546D-F1F6-80551D5608E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6601" y="1152353"/>
            <a:ext cx="4316254" cy="327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a:extLst>
              <a:ext uri="{FF2B5EF4-FFF2-40B4-BE49-F238E27FC236}">
                <a16:creationId xmlns:a16="http://schemas.microsoft.com/office/drawing/2014/main" id="{A5BFEB50-CE30-CBC5-B5E9-8ED4D693A7C2}"/>
              </a:ext>
            </a:extLst>
          </p:cNvPr>
          <p:cNvGraphicFramePr>
            <a:graphicFrameLocks noGrp="1"/>
          </p:cNvGraphicFramePr>
          <p:nvPr>
            <p:extLst>
              <p:ext uri="{D42A27DB-BD31-4B8C-83A1-F6EECF244321}">
                <p14:modId xmlns:p14="http://schemas.microsoft.com/office/powerpoint/2010/main" val="1516490300"/>
              </p:ext>
            </p:extLst>
          </p:nvPr>
        </p:nvGraphicFramePr>
        <p:xfrm>
          <a:off x="7106601" y="4428469"/>
          <a:ext cx="4316254" cy="2106276"/>
        </p:xfrm>
        <a:graphic>
          <a:graphicData uri="http://schemas.openxmlformats.org/drawingml/2006/table">
            <a:tbl>
              <a:tblPr firstRow="1" firstCol="1" bandRow="1">
                <a:tableStyleId>{F5AB1C69-6EDB-4FF4-983F-18BD219EF322}</a:tableStyleId>
              </a:tblPr>
              <a:tblGrid>
                <a:gridCol w="666668">
                  <a:extLst>
                    <a:ext uri="{9D8B030D-6E8A-4147-A177-3AD203B41FA5}">
                      <a16:colId xmlns:a16="http://schemas.microsoft.com/office/drawing/2014/main" val="3587133120"/>
                    </a:ext>
                  </a:extLst>
                </a:gridCol>
                <a:gridCol w="899695">
                  <a:extLst>
                    <a:ext uri="{9D8B030D-6E8A-4147-A177-3AD203B41FA5}">
                      <a16:colId xmlns:a16="http://schemas.microsoft.com/office/drawing/2014/main" val="3033401809"/>
                    </a:ext>
                  </a:extLst>
                </a:gridCol>
                <a:gridCol w="685940">
                  <a:extLst>
                    <a:ext uri="{9D8B030D-6E8A-4147-A177-3AD203B41FA5}">
                      <a16:colId xmlns:a16="http://schemas.microsoft.com/office/drawing/2014/main" val="2032362480"/>
                    </a:ext>
                  </a:extLst>
                </a:gridCol>
                <a:gridCol w="695576">
                  <a:extLst>
                    <a:ext uri="{9D8B030D-6E8A-4147-A177-3AD203B41FA5}">
                      <a16:colId xmlns:a16="http://schemas.microsoft.com/office/drawing/2014/main" val="2558073412"/>
                    </a:ext>
                  </a:extLst>
                </a:gridCol>
                <a:gridCol w="627244">
                  <a:extLst>
                    <a:ext uri="{9D8B030D-6E8A-4147-A177-3AD203B41FA5}">
                      <a16:colId xmlns:a16="http://schemas.microsoft.com/office/drawing/2014/main" val="1085647486"/>
                    </a:ext>
                  </a:extLst>
                </a:gridCol>
                <a:gridCol w="741131">
                  <a:extLst>
                    <a:ext uri="{9D8B030D-6E8A-4147-A177-3AD203B41FA5}">
                      <a16:colId xmlns:a16="http://schemas.microsoft.com/office/drawing/2014/main" val="3533516780"/>
                    </a:ext>
                  </a:extLst>
                </a:gridCol>
              </a:tblGrid>
              <a:tr h="767081">
                <a:tc>
                  <a:txBody>
                    <a:bodyPr/>
                    <a:lstStyle/>
                    <a:p>
                      <a:pPr algn="ctr">
                        <a:buNone/>
                      </a:pPr>
                      <a:r>
                        <a:rPr lang="en-US" sz="1000">
                          <a:effectLst/>
                        </a:rPr>
                        <a:t>Model</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Accuracy</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Macro F1</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Kappa</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CV Score</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Train-Test Gap</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526284388"/>
                  </a:ext>
                </a:extLst>
              </a:tr>
              <a:tr h="275936">
                <a:tc>
                  <a:txBody>
                    <a:bodyPr/>
                    <a:lstStyle/>
                    <a:p>
                      <a:pPr algn="ctr">
                        <a:buNone/>
                      </a:pPr>
                      <a:r>
                        <a:rPr lang="en-US" sz="1000">
                          <a:effectLst/>
                        </a:rPr>
                        <a:t>SVM</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98.4%</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0.98</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0.97</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High</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Low</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941473042"/>
                  </a:ext>
                </a:extLst>
              </a:tr>
              <a:tr h="511387">
                <a:tc>
                  <a:txBody>
                    <a:bodyPr/>
                    <a:lstStyle/>
                    <a:p>
                      <a:pPr algn="ctr">
                        <a:buNone/>
                      </a:pPr>
                      <a:r>
                        <a:rPr lang="en-US" sz="1000">
                          <a:effectLst/>
                        </a:rPr>
                        <a:t>RF</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98%</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0.98</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0.97</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Stable</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Slight</a:t>
                      </a:r>
                      <a:endParaRPr lang="en-IN" sz="100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705904183"/>
                  </a:ext>
                </a:extLst>
              </a:tr>
              <a:tr h="551872">
                <a:tc>
                  <a:txBody>
                    <a:bodyPr/>
                    <a:lstStyle/>
                    <a:p>
                      <a:pPr algn="ctr">
                        <a:buNone/>
                      </a:pPr>
                      <a:r>
                        <a:rPr lang="en-US" sz="1000">
                          <a:effectLst/>
                        </a:rPr>
                        <a:t>MLR</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99.3%</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0.99</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0.99</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Very High</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Very Low</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1973541452"/>
                  </a:ext>
                </a:extLst>
              </a:tr>
            </a:tbl>
          </a:graphicData>
        </a:graphic>
      </p:graphicFrame>
      <p:sp>
        <p:nvSpPr>
          <p:cNvPr id="6" name="TextBox 5">
            <a:extLst>
              <a:ext uri="{FF2B5EF4-FFF2-40B4-BE49-F238E27FC236}">
                <a16:creationId xmlns:a16="http://schemas.microsoft.com/office/drawing/2014/main" id="{E7F8A99A-495F-F158-901B-F4D93BC44D9F}"/>
              </a:ext>
            </a:extLst>
          </p:cNvPr>
          <p:cNvSpPr txBox="1"/>
          <p:nvPr/>
        </p:nvSpPr>
        <p:spPr>
          <a:xfrm>
            <a:off x="522923" y="958334"/>
            <a:ext cx="6097904" cy="461665"/>
          </a:xfrm>
          <a:prstGeom prst="rect">
            <a:avLst/>
          </a:prstGeom>
          <a:noFill/>
        </p:spPr>
        <p:txBody>
          <a:bodyPr wrap="square">
            <a:spAutoFit/>
          </a:bodyPr>
          <a:lstStyle/>
          <a:p>
            <a:r>
              <a:rPr lang="en-US" sz="2400" b="1" dirty="0"/>
              <a:t>Section 5: Results, Analysis &amp; Conclusion</a:t>
            </a:r>
            <a:endParaRPr lang="en-IN" sz="2400" b="1" dirty="0"/>
          </a:p>
        </p:txBody>
      </p:sp>
    </p:spTree>
    <p:extLst>
      <p:ext uri="{BB962C8B-B14F-4D97-AF65-F5344CB8AC3E}">
        <p14:creationId xmlns:p14="http://schemas.microsoft.com/office/powerpoint/2010/main" val="523657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5ECE5-390F-665C-B988-A6BA229896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F03046-435C-0155-A795-F86B251CBFB6}"/>
              </a:ext>
            </a:extLst>
          </p:cNvPr>
          <p:cNvSpPr>
            <a:spLocks noGrp="1"/>
          </p:cNvSpPr>
          <p:nvPr>
            <p:ph idx="1"/>
          </p:nvPr>
        </p:nvSpPr>
        <p:spPr>
          <a:xfrm>
            <a:off x="2057400" y="1736725"/>
            <a:ext cx="8267700" cy="4351338"/>
          </a:xfrm>
        </p:spPr>
        <p:txBody>
          <a:bodyPr>
            <a:normAutofit/>
          </a:bodyPr>
          <a:lstStyle/>
          <a:p>
            <a:pPr marL="0" indent="0">
              <a:buNone/>
            </a:pPr>
            <a:r>
              <a:rPr lang="en-US" b="1" dirty="0"/>
              <a:t>Future Research Directions</a:t>
            </a:r>
            <a:endParaRPr lang="en-US" dirty="0"/>
          </a:p>
          <a:p>
            <a:r>
              <a:rPr lang="en-US" sz="1900" b="1" dirty="0"/>
              <a:t>Expanded Feature Set:</a:t>
            </a:r>
            <a:r>
              <a:rPr lang="en-US" sz="1900" dirty="0"/>
              <a:t> Incorporate additional meteorological parameters such as temperature, humidity, and wind speed to further enhance predictive accuracy.</a:t>
            </a:r>
          </a:p>
          <a:p>
            <a:r>
              <a:rPr lang="en-US" sz="1900" b="1" dirty="0"/>
              <a:t>Advanced Modeling:</a:t>
            </a:r>
            <a:r>
              <a:rPr lang="en-US" sz="1900" dirty="0"/>
              <a:t> Explore hyperparameter optimization, ensemble learning, and deep learning architectures to improve predictive ability.</a:t>
            </a:r>
          </a:p>
          <a:p>
            <a:r>
              <a:rPr lang="en-US" sz="1900" b="1" dirty="0"/>
              <a:t>Practical Application:</a:t>
            </a:r>
            <a:r>
              <a:rPr lang="en-US" sz="1900" dirty="0"/>
              <a:t> Implement the model as a web or mobile application, utilizing real-time data fetched through APIs for practical public use.</a:t>
            </a:r>
          </a:p>
          <a:p>
            <a:r>
              <a:rPr lang="en-US" sz="1900" b="1" dirty="0"/>
              <a:t>Dataset Generalization:</a:t>
            </a:r>
            <a:r>
              <a:rPr lang="en-US" sz="1900" dirty="0"/>
              <a:t> Conduct deeper analysis using larger and more diverse datasets to improve the model's applicability to varied real-world geographical situations.</a:t>
            </a:r>
          </a:p>
        </p:txBody>
      </p:sp>
      <p:sp>
        <p:nvSpPr>
          <p:cNvPr id="4" name="TextBox 3">
            <a:extLst>
              <a:ext uri="{FF2B5EF4-FFF2-40B4-BE49-F238E27FC236}">
                <a16:creationId xmlns:a16="http://schemas.microsoft.com/office/drawing/2014/main" id="{5B587930-099C-F527-707B-ABA2DD68A5C2}"/>
              </a:ext>
            </a:extLst>
          </p:cNvPr>
          <p:cNvSpPr txBox="1"/>
          <p:nvPr/>
        </p:nvSpPr>
        <p:spPr>
          <a:xfrm>
            <a:off x="522923" y="958334"/>
            <a:ext cx="6097904" cy="461665"/>
          </a:xfrm>
          <a:prstGeom prst="rect">
            <a:avLst/>
          </a:prstGeom>
          <a:noFill/>
        </p:spPr>
        <p:txBody>
          <a:bodyPr wrap="square">
            <a:spAutoFit/>
          </a:bodyPr>
          <a:lstStyle/>
          <a:p>
            <a:r>
              <a:rPr lang="en-US" sz="2400" b="1" dirty="0"/>
              <a:t>Section 6: Future Works</a:t>
            </a:r>
            <a:endParaRPr lang="en-IN" sz="2400" b="1" dirty="0"/>
          </a:p>
        </p:txBody>
      </p:sp>
      <p:sp>
        <p:nvSpPr>
          <p:cNvPr id="8" name="Slide Number Placeholder 7">
            <a:extLst>
              <a:ext uri="{FF2B5EF4-FFF2-40B4-BE49-F238E27FC236}">
                <a16:creationId xmlns:a16="http://schemas.microsoft.com/office/drawing/2014/main" id="{E72925FD-CCB8-8FA3-BB25-77BB1EB29B7F}"/>
              </a:ext>
            </a:extLst>
          </p:cNvPr>
          <p:cNvSpPr>
            <a:spLocks noGrp="1"/>
          </p:cNvSpPr>
          <p:nvPr>
            <p:ph type="sldNum" sz="quarter" idx="12"/>
          </p:nvPr>
        </p:nvSpPr>
        <p:spPr/>
        <p:txBody>
          <a:bodyPr/>
          <a:lstStyle/>
          <a:p>
            <a:fld id="{0675BFE1-678E-4020-ACD1-5206801575C1}" type="slidenum">
              <a:rPr lang="en-IN" smtClean="0"/>
              <a:t>15</a:t>
            </a:fld>
            <a:endParaRPr lang="en-IN"/>
          </a:p>
        </p:txBody>
      </p:sp>
    </p:spTree>
    <p:extLst>
      <p:ext uri="{BB962C8B-B14F-4D97-AF65-F5344CB8AC3E}">
        <p14:creationId xmlns:p14="http://schemas.microsoft.com/office/powerpoint/2010/main" val="767699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21D25E-F265-A772-0DC6-0AC7B558548F}"/>
              </a:ext>
            </a:extLst>
          </p:cNvPr>
          <p:cNvSpPr txBox="1"/>
          <p:nvPr/>
        </p:nvSpPr>
        <p:spPr>
          <a:xfrm>
            <a:off x="522923" y="958334"/>
            <a:ext cx="6097904" cy="461665"/>
          </a:xfrm>
          <a:prstGeom prst="rect">
            <a:avLst/>
          </a:prstGeom>
          <a:noFill/>
        </p:spPr>
        <p:txBody>
          <a:bodyPr wrap="square">
            <a:spAutoFit/>
          </a:bodyPr>
          <a:lstStyle/>
          <a:p>
            <a:r>
              <a:rPr lang="en-US" sz="2400" b="1" dirty="0"/>
              <a:t>Section 7: Team Contributions</a:t>
            </a:r>
            <a:endParaRPr lang="en-IN" sz="2400" b="1" dirty="0"/>
          </a:p>
        </p:txBody>
      </p:sp>
      <p:sp>
        <p:nvSpPr>
          <p:cNvPr id="9" name="Slide Number Placeholder 8">
            <a:extLst>
              <a:ext uri="{FF2B5EF4-FFF2-40B4-BE49-F238E27FC236}">
                <a16:creationId xmlns:a16="http://schemas.microsoft.com/office/drawing/2014/main" id="{6C0CC7E2-10B6-33BC-8F88-0B9807CCE80E}"/>
              </a:ext>
            </a:extLst>
          </p:cNvPr>
          <p:cNvSpPr>
            <a:spLocks noGrp="1"/>
          </p:cNvSpPr>
          <p:nvPr>
            <p:ph type="sldNum" sz="quarter" idx="12"/>
          </p:nvPr>
        </p:nvSpPr>
        <p:spPr/>
        <p:txBody>
          <a:bodyPr/>
          <a:lstStyle/>
          <a:p>
            <a:fld id="{0675BFE1-678E-4020-ACD1-5206801575C1}" type="slidenum">
              <a:rPr lang="en-IN" smtClean="0"/>
              <a:t>16</a:t>
            </a:fld>
            <a:endParaRPr lang="en-IN"/>
          </a:p>
        </p:txBody>
      </p:sp>
      <p:sp>
        <p:nvSpPr>
          <p:cNvPr id="7" name="TextBox 6">
            <a:extLst>
              <a:ext uri="{FF2B5EF4-FFF2-40B4-BE49-F238E27FC236}">
                <a16:creationId xmlns:a16="http://schemas.microsoft.com/office/drawing/2014/main" id="{C9A2DBFC-12FB-F962-00B3-2D25CA4CF712}"/>
              </a:ext>
            </a:extLst>
          </p:cNvPr>
          <p:cNvSpPr txBox="1"/>
          <p:nvPr/>
        </p:nvSpPr>
        <p:spPr>
          <a:xfrm>
            <a:off x="574313" y="1357614"/>
            <a:ext cx="11094763" cy="5262979"/>
          </a:xfrm>
          <a:prstGeom prst="rect">
            <a:avLst/>
          </a:prstGeom>
          <a:noFill/>
        </p:spPr>
        <p:txBody>
          <a:bodyPr wrap="square">
            <a:spAutoFit/>
          </a:bodyPr>
          <a:lstStyle/>
          <a:p>
            <a:pPr>
              <a:buFont typeface="Wingdings" panose="05000000000000000000" pitchFamily="2" charset="2"/>
              <a:buChar char="q"/>
            </a:pPr>
            <a:r>
              <a:rPr lang="en-IN" sz="1600" b="1" dirty="0"/>
              <a:t>Farhan Akhlaq</a:t>
            </a:r>
          </a:p>
          <a:p>
            <a:pPr marL="180975" lvl="1">
              <a:buFont typeface="Wingdings" panose="05000000000000000000" pitchFamily="2" charset="2"/>
              <a:buChar char="§"/>
            </a:pPr>
            <a:r>
              <a:rPr lang="en-IN" sz="1600" b="1" dirty="0"/>
              <a:t>SVM Implementation:</a:t>
            </a:r>
            <a:r>
              <a:rPr lang="en-IN" sz="1600" dirty="0"/>
              <a:t> Developed the Support Vector Machine (SVM) model utilizing an RBF kernel for classification.</a:t>
            </a:r>
          </a:p>
          <a:p>
            <a:pPr marL="180975" lvl="1">
              <a:buFont typeface="Wingdings" panose="05000000000000000000" pitchFamily="2" charset="2"/>
              <a:buChar char="§"/>
            </a:pPr>
            <a:r>
              <a:rPr lang="en-IN" sz="1600" b="1" dirty="0"/>
              <a:t>Dimensionality Reduction:</a:t>
            </a:r>
            <a:r>
              <a:rPr lang="en-IN" sz="1600" dirty="0"/>
              <a:t> Applied Principal Component Analysis (PCA) to visualize high-dimensional classification boundaries in 2D.</a:t>
            </a:r>
          </a:p>
          <a:p>
            <a:pPr marL="180975" lvl="1">
              <a:buFont typeface="Wingdings" panose="05000000000000000000" pitchFamily="2" charset="2"/>
              <a:buChar char="§"/>
            </a:pPr>
            <a:r>
              <a:rPr lang="en-IN" sz="1600" b="1" dirty="0"/>
              <a:t>Metrics Analysis:</a:t>
            </a:r>
            <a:r>
              <a:rPr lang="en-IN" sz="1600" dirty="0"/>
              <a:t> Executed final performance evaluations using standardized project metrics.</a:t>
            </a:r>
          </a:p>
          <a:p>
            <a:pPr>
              <a:buFont typeface="Wingdings" panose="05000000000000000000" pitchFamily="2" charset="2"/>
              <a:buChar char="q"/>
            </a:pPr>
            <a:r>
              <a:rPr lang="en-IN" sz="1600" b="1" dirty="0"/>
              <a:t>Karthik </a:t>
            </a:r>
            <a:r>
              <a:rPr lang="en-IN" sz="1600" b="1" dirty="0" err="1"/>
              <a:t>Baurai</a:t>
            </a:r>
            <a:endParaRPr lang="en-IN" sz="1600" b="1" dirty="0"/>
          </a:p>
          <a:p>
            <a:pPr marL="180975" lvl="1">
              <a:buFont typeface="Wingdings" panose="05000000000000000000" pitchFamily="2" charset="2"/>
              <a:buChar char="§"/>
            </a:pPr>
            <a:r>
              <a:rPr lang="en-IN" sz="1600" b="1" dirty="0"/>
              <a:t>Feature Engineering:</a:t>
            </a:r>
            <a:r>
              <a:rPr lang="en-IN" sz="1600" dirty="0"/>
              <a:t> Engineered seasonal features and handled multi-city data aggregation to identify temporal patterns.</a:t>
            </a:r>
          </a:p>
          <a:p>
            <a:pPr marL="180975" lvl="1">
              <a:buFont typeface="Wingdings" panose="05000000000000000000" pitchFamily="2" charset="2"/>
              <a:buChar char="§"/>
            </a:pPr>
            <a:r>
              <a:rPr lang="en-IN" sz="1600" b="1" dirty="0"/>
              <a:t>Exploratory Data Analysis:</a:t>
            </a:r>
            <a:r>
              <a:rPr lang="en-IN" sz="1600" dirty="0"/>
              <a:t> Conducted statistical evaluations (skewness/kurtosis) and correlation analysis for pollutant </a:t>
            </a:r>
            <a:r>
              <a:rPr lang="en-IN" sz="1600" dirty="0" err="1"/>
              <a:t>behaviors</a:t>
            </a:r>
            <a:r>
              <a:rPr lang="en-IN" sz="1600" dirty="0"/>
              <a:t>.</a:t>
            </a:r>
          </a:p>
          <a:p>
            <a:pPr marL="180975" lvl="1">
              <a:buFont typeface="Wingdings" panose="05000000000000000000" pitchFamily="2" charset="2"/>
              <a:buChar char="§"/>
            </a:pPr>
            <a:r>
              <a:rPr lang="en-IN" sz="1600" b="1" dirty="0"/>
              <a:t>Model Optimization:</a:t>
            </a:r>
            <a:r>
              <a:rPr lang="en-IN" sz="1600" dirty="0"/>
              <a:t> Handled data consistency and assisted in Random Forest implementation.</a:t>
            </a:r>
          </a:p>
          <a:p>
            <a:pPr>
              <a:buFont typeface="Wingdings" panose="05000000000000000000" pitchFamily="2" charset="2"/>
              <a:buChar char="q"/>
            </a:pPr>
            <a:r>
              <a:rPr lang="en-IN" sz="1600" b="1" dirty="0"/>
              <a:t>Misbah Ul Islam</a:t>
            </a:r>
          </a:p>
          <a:p>
            <a:pPr marL="180975" lvl="1">
              <a:buFont typeface="Wingdings" panose="05000000000000000000" pitchFamily="2" charset="2"/>
              <a:buChar char="§"/>
            </a:pPr>
            <a:r>
              <a:rPr lang="en-IN" sz="1600" b="1" dirty="0"/>
              <a:t>Random Forest Development:</a:t>
            </a:r>
            <a:r>
              <a:rPr lang="en-IN" sz="1600" dirty="0"/>
              <a:t> Led the development of the Random Forest classifier, utilizing ensemble learning to improve accuracy.</a:t>
            </a:r>
          </a:p>
          <a:p>
            <a:pPr marL="180975" lvl="1">
              <a:buFont typeface="Wingdings" panose="05000000000000000000" pitchFamily="2" charset="2"/>
              <a:buChar char="§"/>
            </a:pPr>
            <a:r>
              <a:rPr lang="en-IN" sz="1600" b="1" dirty="0"/>
              <a:t>Performance Validation:</a:t>
            </a:r>
            <a:r>
              <a:rPr lang="en-IN" sz="1600" dirty="0"/>
              <a:t> Conducted cross-validation and confusion matrix analysis to ensure model reliability and prevent overfitting.</a:t>
            </a:r>
          </a:p>
          <a:p>
            <a:pPr marL="180975" lvl="1">
              <a:buFont typeface="Wingdings" panose="05000000000000000000" pitchFamily="2" charset="2"/>
              <a:buChar char="§"/>
            </a:pPr>
            <a:r>
              <a:rPr lang="en-IN" sz="1600" b="1" dirty="0"/>
              <a:t>Literature Review:</a:t>
            </a:r>
            <a:r>
              <a:rPr lang="en-IN" sz="1600" dirty="0"/>
              <a:t> Researched and documented the environmental context and existing methodologies for air quality prediction.</a:t>
            </a:r>
          </a:p>
          <a:p>
            <a:pPr>
              <a:buFont typeface="Wingdings" panose="05000000000000000000" pitchFamily="2" charset="2"/>
              <a:buChar char="q"/>
            </a:pPr>
            <a:r>
              <a:rPr lang="en-IN" sz="1600" b="1" dirty="0"/>
              <a:t>Mukund Prasad</a:t>
            </a:r>
          </a:p>
          <a:p>
            <a:pPr marL="180975" lvl="1">
              <a:buFont typeface="Wingdings" panose="05000000000000000000" pitchFamily="2" charset="2"/>
              <a:buChar char="§"/>
            </a:pPr>
            <a:r>
              <a:rPr lang="en-IN" sz="1600" b="1" dirty="0"/>
              <a:t>Data Infrastructure:</a:t>
            </a:r>
            <a:r>
              <a:rPr lang="en-IN" sz="1600" dirty="0"/>
              <a:t> Managed the raw 2015–2023 AQI dataset, cleaning workflows, and preprocessing documentation.</a:t>
            </a:r>
          </a:p>
          <a:p>
            <a:pPr marL="180975" lvl="1">
              <a:buFont typeface="Wingdings" panose="05000000000000000000" pitchFamily="2" charset="2"/>
              <a:buChar char="§"/>
            </a:pPr>
            <a:r>
              <a:rPr lang="en-IN" sz="1600" b="1" dirty="0"/>
              <a:t>Deep Statistical EDA:</a:t>
            </a:r>
            <a:r>
              <a:rPr lang="en-IN" sz="1600" dirty="0"/>
              <a:t> Performed rigorous data validation, including Multicollinearity (VIF) checks and physical constraint verification.</a:t>
            </a:r>
          </a:p>
          <a:p>
            <a:pPr marL="180975" lvl="1">
              <a:buFont typeface="Wingdings" panose="05000000000000000000" pitchFamily="2" charset="2"/>
              <a:buChar char="§"/>
            </a:pPr>
            <a:r>
              <a:rPr lang="en-IN" sz="1600" b="1" dirty="0"/>
              <a:t>ML Pipeline &amp; Interface:</a:t>
            </a:r>
            <a:r>
              <a:rPr lang="en-IN" sz="1600" dirty="0"/>
              <a:t> Built the Multiple Linear Regression (MLR) workflow and a CLI-style prediction interface with input validation.</a:t>
            </a:r>
          </a:p>
        </p:txBody>
      </p:sp>
    </p:spTree>
    <p:extLst>
      <p:ext uri="{BB962C8B-B14F-4D97-AF65-F5344CB8AC3E}">
        <p14:creationId xmlns:p14="http://schemas.microsoft.com/office/powerpoint/2010/main" val="1245268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1548</TotalTime>
  <Words>1968</Words>
  <Application>Microsoft Office PowerPoint</Application>
  <PresentationFormat>Widescreen</PresentationFormat>
  <Paragraphs>199</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inherit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MUKUND PRASAD</dc:creator>
  <cp:lastModifiedBy>MUKUND PRASAD</cp:lastModifiedBy>
  <cp:revision>33</cp:revision>
  <dcterms:created xsi:type="dcterms:W3CDTF">2026-04-19T06:17:39Z</dcterms:created>
  <dcterms:modified xsi:type="dcterms:W3CDTF">2026-07-20T13:36:51Z</dcterms:modified>
</cp:coreProperties>
</file>